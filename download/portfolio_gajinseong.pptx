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lexandria Bold" charset="1" panose="00000000000000000000"/>
      <p:regular r:id="rId13"/>
    </p:embeddedFont>
    <p:embeddedFont>
      <p:font typeface="윤고딕 Light" charset="1" panose="020B0503000000000000"/>
      <p:regular r:id="rId14"/>
    </p:embeddedFont>
    <p:embeddedFont>
      <p:font typeface="윤고딕" charset="1" panose="020B0503000000000000"/>
      <p:regular r:id="rId15"/>
    </p:embeddedFont>
    <p:embeddedFont>
      <p:font typeface="Alexandria Light" charset="1" panose="00000000000000000000"/>
      <p:regular r:id="rId16"/>
    </p:embeddedFont>
    <p:embeddedFont>
      <p:font typeface="Alexandria Semi-Bold" charset="1" panose="00000000000000000000"/>
      <p:regular r:id="rId17"/>
    </p:embeddedFont>
    <p:embeddedFont>
      <p:font typeface="윤고딕 Medium" charset="1" panose="020B0603000000000000"/>
      <p:regular r:id="rId18"/>
    </p:embeddedFont>
    <p:embeddedFont>
      <p:font typeface="윤고딕 Semi-Bold" charset="1" panose="020B0603000000000000"/>
      <p:regular r:id="rId19"/>
    </p:embeddedFont>
    <p:embeddedFont>
      <p:font typeface="윤고딕 Thin" charset="1" panose="020B0303000000000000"/>
      <p:regular r:id="rId20"/>
    </p:embeddedFont>
    <p:embeddedFont>
      <p:font typeface="Alexandria Medium" charset="1" panose="00000000000000000000"/>
      <p:regular r:id="rId21"/>
    </p:embeddedFont>
    <p:embeddedFont>
      <p:font typeface="Alexandria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https://youtu.be/2f2iAFrP2Ws" TargetMode="External" Type="http://schemas.openxmlformats.org/officeDocument/2006/relationships/video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3925" y="6018297"/>
            <a:ext cx="12680226" cy="260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8"/>
              </a:lnSpc>
            </a:pPr>
            <a:r>
              <a:rPr lang="en-US" b="true" sz="15263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PORTFOLIO.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897620"/>
            <a:ext cx="11923841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sz="1999">
                <a:solidFill>
                  <a:srgbClr val="B4B4B4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가진성     </a:t>
            </a:r>
            <a:r>
              <a:rPr lang="en-US" sz="1999">
                <a:solidFill>
                  <a:srgbClr val="B4B4B4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PHONE: 010-5754-4209     MAIL: jinseongga@gmail.com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79450"/>
            <a:ext cx="320044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B4B4B4"/>
                </a:solidFill>
                <a:latin typeface="윤고딕"/>
                <a:ea typeface="윤고딕"/>
                <a:cs typeface="윤고딕"/>
                <a:sym typeface="윤고딕"/>
              </a:rPr>
              <a:t>Jinseong’s </a:t>
            </a:r>
            <a:r>
              <a:rPr lang="en-US" sz="2000" i="true" strike="noStrike" u="none">
                <a:solidFill>
                  <a:srgbClr val="B4B4B4"/>
                </a:solidFill>
                <a:latin typeface="윤고딕"/>
                <a:ea typeface="윤고딕"/>
                <a:cs typeface="윤고딕"/>
                <a:sym typeface="윤고딕"/>
              </a:rPr>
              <a:t>Portfolio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1526"/>
            <a:ext cx="4364912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92438"/>
            <a:ext cx="6915574" cy="160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3"/>
              </a:lnSpc>
            </a:pPr>
            <a:r>
              <a:rPr lang="en-US" sz="9395" b="true">
                <a:solidFill>
                  <a:srgbClr val="FFFFFF"/>
                </a:solidFill>
                <a:latin typeface="Alexandria Semi-Bold"/>
                <a:ea typeface="Alexandria Semi-Bold"/>
                <a:cs typeface="Alexandria Semi-Bold"/>
                <a:sym typeface="Alexandria Semi-Bold"/>
              </a:rPr>
              <a:t>CO</a:t>
            </a:r>
            <a:r>
              <a:rPr lang="en-US" b="true" sz="9395">
                <a:solidFill>
                  <a:srgbClr val="FFFFFF"/>
                </a:solidFill>
                <a:latin typeface="Alexandria Semi-Bold"/>
                <a:ea typeface="Alexandria Semi-Bold"/>
                <a:cs typeface="Alexandria Semi-Bold"/>
                <a:sym typeface="Alexandria Semi-Bold"/>
              </a:rPr>
              <a:t>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063951"/>
            <a:ext cx="583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598219"/>
            <a:ext cx="583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132488"/>
            <a:ext cx="583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03</a:t>
            </a:r>
          </a:p>
        </p:txBody>
      </p:sp>
      <p:sp>
        <p:nvSpPr>
          <p:cNvPr name="AutoShape 7" id="7"/>
          <p:cNvSpPr/>
          <p:nvPr/>
        </p:nvSpPr>
        <p:spPr>
          <a:xfrm>
            <a:off x="9144000" y="3120427"/>
            <a:ext cx="81153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144000" y="1582938"/>
            <a:ext cx="81153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44000" y="4654696"/>
            <a:ext cx="81153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144000" y="6188964"/>
            <a:ext cx="81153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977288" y="2085382"/>
            <a:ext cx="421607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>
                <a:solidFill>
                  <a:srgbClr val="FFFFFF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이력사항 소개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77288" y="3619650"/>
            <a:ext cx="421607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>
                <a:solidFill>
                  <a:srgbClr val="FFFFFF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프로젝트 소개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7288" y="5153919"/>
            <a:ext cx="421607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>
                <a:solidFill>
                  <a:srgbClr val="FFFFFF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프로젝트 소개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8589" y="2700189"/>
            <a:ext cx="3187462" cy="3712413"/>
            <a:chOff x="0" y="0"/>
            <a:chExt cx="746723" cy="8697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23" cy="869703"/>
            </a:xfrm>
            <a:custGeom>
              <a:avLst/>
              <a:gdLst/>
              <a:ahLst/>
              <a:cxnLst/>
              <a:rect r="r" b="b" t="t" l="l"/>
              <a:pathLst>
                <a:path h="869703" w="746723">
                  <a:moveTo>
                    <a:pt x="373362" y="0"/>
                  </a:moveTo>
                  <a:cubicBezTo>
                    <a:pt x="167160" y="0"/>
                    <a:pt x="0" y="194690"/>
                    <a:pt x="0" y="434852"/>
                  </a:cubicBezTo>
                  <a:cubicBezTo>
                    <a:pt x="0" y="675013"/>
                    <a:pt x="167160" y="869703"/>
                    <a:pt x="373362" y="869703"/>
                  </a:cubicBezTo>
                  <a:cubicBezTo>
                    <a:pt x="579564" y="869703"/>
                    <a:pt x="746723" y="675013"/>
                    <a:pt x="746723" y="434852"/>
                  </a:cubicBezTo>
                  <a:cubicBezTo>
                    <a:pt x="746723" y="194690"/>
                    <a:pt x="579564" y="0"/>
                    <a:pt x="37336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309" r="0" b="-7309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0790229" y="8635267"/>
            <a:ext cx="5086035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0790230" y="3581456"/>
            <a:ext cx="5086040" cy="4762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5187155" y="6071870"/>
            <a:ext cx="5086040" cy="4762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5128333" y="7350685"/>
            <a:ext cx="5144862" cy="9703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5187151" y="4455417"/>
            <a:ext cx="5086045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790230" y="5881895"/>
            <a:ext cx="5086045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771526"/>
            <a:ext cx="4364912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87151" y="6167465"/>
            <a:ext cx="1064024" cy="38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1690">
                <a:solidFill>
                  <a:srgbClr val="737373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2024. 03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28328" y="7460401"/>
            <a:ext cx="1064024" cy="38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1"/>
              </a:lnSpc>
            </a:pPr>
            <a:r>
              <a:rPr lang="en-US" sz="1690" strike="noStrike" u="none">
                <a:solidFill>
                  <a:srgbClr val="737373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2024. 05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0225" y="8735280"/>
            <a:ext cx="1064024" cy="79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1"/>
              </a:lnSpc>
            </a:pPr>
            <a:r>
              <a:rPr lang="en-US" sz="1690">
                <a:solidFill>
                  <a:srgbClr val="737373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전화</a:t>
            </a:r>
          </a:p>
          <a:p>
            <a:pPr algn="l" marL="0" indent="0" lvl="0">
              <a:lnSpc>
                <a:spcPts val="3211"/>
              </a:lnSpc>
            </a:pPr>
            <a:r>
              <a:rPr lang="en-US" sz="1690" strike="noStrike" u="none">
                <a:solidFill>
                  <a:srgbClr val="737373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메일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95380" y="6176990"/>
            <a:ext cx="3208521" cy="38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1708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세명 컴퓨터 고등학교 입학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36558" y="7469926"/>
            <a:ext cx="3671827" cy="38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1708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교내 프로그래밍 문제 해결 대회 은상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01209" y="8744805"/>
            <a:ext cx="3671827" cy="80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1708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010-5754-4209</a:t>
            </a:r>
          </a:p>
          <a:p>
            <a:pPr algn="l">
              <a:lnSpc>
                <a:spcPts val="3246"/>
              </a:lnSpc>
            </a:pPr>
            <a:r>
              <a:rPr lang="en-US" sz="1708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jinseongga@gmail.com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0225" y="3681814"/>
            <a:ext cx="2328222" cy="118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1"/>
              </a:lnSpc>
            </a:pPr>
            <a:r>
              <a:rPr lang="en-US" sz="1690" strike="noStrike" u="none">
                <a:solidFill>
                  <a:srgbClr val="737373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2024. 06</a:t>
            </a:r>
            <a:r>
              <a:rPr lang="en-US" sz="1690" strike="noStrike" u="none">
                <a:solidFill>
                  <a:srgbClr val="737373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~ 2026. </a:t>
            </a:r>
            <a:r>
              <a:rPr lang="en-US" sz="1690" strike="noStrike" u="none">
                <a:solidFill>
                  <a:srgbClr val="737373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04</a:t>
            </a:r>
          </a:p>
          <a:p>
            <a:pPr algn="l" marL="0" indent="0" lvl="0">
              <a:lnSpc>
                <a:spcPts val="3211"/>
              </a:lnSpc>
            </a:pPr>
          </a:p>
          <a:p>
            <a:pPr algn="l" marL="0" indent="0" lvl="0">
              <a:lnSpc>
                <a:spcPts val="3211"/>
              </a:lnSpc>
            </a:pPr>
            <a:r>
              <a:rPr lang="en-US" sz="1690" strike="noStrike" u="none">
                <a:solidFill>
                  <a:srgbClr val="737373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2025.03 ~ 2025.04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18447" y="3691339"/>
            <a:ext cx="2853079" cy="160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1708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서강대학교 미래 유망 분야 인재 양성 사업 참여</a:t>
            </a:r>
          </a:p>
          <a:p>
            <a:pPr algn="l">
              <a:lnSpc>
                <a:spcPts val="3246"/>
              </a:lnSpc>
            </a:pPr>
            <a:r>
              <a:rPr lang="en-US" sz="1708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서울 지방 경기 기능 대회(게임 제작 분야) 출전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87151" y="5523314"/>
            <a:ext cx="2484202" cy="39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6"/>
              </a:lnSpc>
              <a:spcBef>
                <a:spcPct val="0"/>
              </a:spcBef>
            </a:pPr>
            <a:r>
              <a:rPr lang="en-US" b="true" sz="2404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EDUCATION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8328" y="6811833"/>
            <a:ext cx="2484202" cy="39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6"/>
              </a:lnSpc>
              <a:spcBef>
                <a:spcPct val="0"/>
              </a:spcBef>
            </a:pPr>
            <a:r>
              <a:rPr lang="en-US" b="true" sz="2404" strike="noStrike" u="none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AWARD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90225" y="8086711"/>
            <a:ext cx="2484202" cy="39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6"/>
              </a:lnSpc>
              <a:spcBef>
                <a:spcPct val="0"/>
              </a:spcBef>
            </a:pPr>
            <a:r>
              <a:rPr lang="en-US" b="true" sz="2404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CONTACT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90225" y="3037663"/>
            <a:ext cx="3494085" cy="39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6"/>
              </a:lnSpc>
              <a:spcBef>
                <a:spcPct val="0"/>
              </a:spcBef>
            </a:pPr>
            <a:r>
              <a:rPr lang="en-US" b="true" sz="2404" strike="noStrike" u="none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EXPERIENCE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9659" y="6675078"/>
            <a:ext cx="2805321" cy="46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9"/>
              </a:lnSpc>
            </a:pPr>
            <a:r>
              <a:rPr lang="en-US" sz="2685" spc="-53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가진성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82918" y="7281295"/>
            <a:ext cx="1658803" cy="49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0"/>
              </a:lnSpc>
            </a:pPr>
            <a:r>
              <a:rPr lang="en-US" sz="1281">
                <a:solidFill>
                  <a:srgbClr val="D9D9D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GaJinSeong </a:t>
            </a:r>
          </a:p>
          <a:p>
            <a:pPr algn="ctr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281">
                <a:solidFill>
                  <a:srgbClr val="D9D9D9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(2008. 06. 28)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76831" y="342160"/>
            <a:ext cx="6934338" cy="136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22"/>
              </a:lnSpc>
            </a:pPr>
            <a:r>
              <a:rPr lang="en-US" sz="9395" b="true">
                <a:solidFill>
                  <a:srgbClr val="FFFFFF"/>
                </a:solidFill>
                <a:latin typeface="Alexandria Semi-Bold"/>
                <a:ea typeface="Alexandria Semi-Bold"/>
                <a:cs typeface="Alexandria Semi-Bold"/>
                <a:sym typeface="Alexandria Semi-Bold"/>
              </a:rPr>
              <a:t>ABOUT M</a:t>
            </a:r>
            <a:r>
              <a:rPr lang="en-US" b="true" sz="9395">
                <a:solidFill>
                  <a:srgbClr val="FFFFFF"/>
                </a:solidFill>
                <a:latin typeface="Alexandria Semi-Bold"/>
                <a:ea typeface="Alexandria Semi-Bold"/>
                <a:cs typeface="Alexandria Semi-Bold"/>
                <a:sym typeface="Alexandria Semi-Bold"/>
              </a:rPr>
              <a:t>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01413" y="1837792"/>
            <a:ext cx="3996033" cy="54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113">
                <a:solidFill>
                  <a:srgbClr val="73737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Ga jin-Seong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87151" y="3018613"/>
            <a:ext cx="9187393" cy="12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29"/>
              </a:lnSpc>
            </a:pPr>
            <a:r>
              <a:rPr lang="en-US" sz="2296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안녕하세요.</a:t>
            </a:r>
          </a:p>
          <a:p>
            <a:pPr algn="just">
              <a:lnSpc>
                <a:spcPts val="3329"/>
              </a:lnSpc>
            </a:pPr>
            <a:r>
              <a:rPr lang="en-US" sz="2296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상상력을 게임으로 만드는 개발자</a:t>
            </a:r>
          </a:p>
          <a:p>
            <a:pPr algn="just">
              <a:lnSpc>
                <a:spcPts val="3329"/>
              </a:lnSpc>
            </a:pPr>
            <a:r>
              <a:rPr lang="en-US" sz="2296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가진성 입니다.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87151" y="4574479"/>
            <a:ext cx="9576550" cy="73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61"/>
              </a:lnSpc>
            </a:pPr>
            <a:r>
              <a:rPr lang="en-US" sz="1226" strike="noStrike" u="none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저는 Unity와 C#에 특화된 개발자로서 관련 수업들과 자료들을 기반으로</a:t>
            </a:r>
          </a:p>
          <a:p>
            <a:pPr algn="just" marL="0" indent="0" lvl="0">
              <a:lnSpc>
                <a:spcPts val="1961"/>
              </a:lnSpc>
            </a:pPr>
            <a:r>
              <a:rPr lang="en-US" sz="1226" strike="noStrike" u="none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제 전문성을 유지, 발전시키며 창의성과 결합하여 다양한 프로젝트에 참여하여</a:t>
            </a:r>
          </a:p>
          <a:p>
            <a:pPr algn="just" marL="0" indent="0" lvl="0">
              <a:lnSpc>
                <a:spcPts val="1961"/>
              </a:lnSpc>
            </a:pPr>
            <a:r>
              <a:rPr lang="en-US" sz="1226" strike="noStrike" u="none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여러 상황에 맞는 코딩 기법들에 강합니다.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90230" y="5476129"/>
            <a:ext cx="2654197" cy="27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5"/>
              </a:lnSpc>
              <a:spcBef>
                <a:spcPct val="0"/>
              </a:spcBef>
            </a:pPr>
            <a:r>
              <a:rPr lang="en-US" b="true" sz="1625" strike="noStrike" u="none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PR</a:t>
            </a:r>
            <a:r>
              <a:rPr lang="en-US" b="true" sz="1625" strike="noStrike" u="none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O</a:t>
            </a:r>
            <a:r>
              <a:rPr lang="en-US" b="true" sz="1625" strike="noStrike" u="none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GR</a:t>
            </a:r>
            <a:r>
              <a:rPr lang="en-US" b="true" sz="1625" strike="noStrike" u="none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</a:t>
            </a:r>
            <a:r>
              <a:rPr lang="en-US" b="true" sz="1625" strike="noStrike" u="none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90230" y="5946465"/>
            <a:ext cx="2180416" cy="160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0208" indent="-175104" lvl="1">
              <a:lnSpc>
                <a:spcPts val="3244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Unity</a:t>
            </a:r>
          </a:p>
          <a:p>
            <a:pPr algn="l" marL="350208" indent="-175104" lvl="1">
              <a:lnSpc>
                <a:spcPts val="3244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Html</a:t>
            </a:r>
          </a:p>
          <a:p>
            <a:pPr algn="l" marL="350208" indent="-175104" lvl="1">
              <a:lnSpc>
                <a:spcPts val="3244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Oracle</a:t>
            </a:r>
          </a:p>
          <a:p>
            <a:pPr algn="l" marL="350208" indent="-175104" lvl="1">
              <a:lnSpc>
                <a:spcPts val="3244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Clude Code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901342"/>
            <a:ext cx="6844547" cy="6356958"/>
          </a:xfrm>
          <a:custGeom>
            <a:avLst/>
            <a:gdLst/>
            <a:ahLst/>
            <a:cxnLst/>
            <a:rect r="r" b="b" t="t" l="l"/>
            <a:pathLst>
              <a:path h="6356958" w="6844547">
                <a:moveTo>
                  <a:pt x="0" y="0"/>
                </a:moveTo>
                <a:lnTo>
                  <a:pt x="6844547" y="0"/>
                </a:lnTo>
                <a:lnTo>
                  <a:pt x="68445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50" t="0" r="-317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3247" y="2901342"/>
            <a:ext cx="10030703" cy="6356958"/>
          </a:xfrm>
          <a:custGeom>
            <a:avLst/>
            <a:gdLst/>
            <a:ahLst/>
            <a:cxnLst/>
            <a:rect r="r" b="b" t="t" l="l"/>
            <a:pathLst>
              <a:path h="6356958" w="10030703">
                <a:moveTo>
                  <a:pt x="0" y="0"/>
                </a:moveTo>
                <a:lnTo>
                  <a:pt x="10030704" y="0"/>
                </a:lnTo>
                <a:lnTo>
                  <a:pt x="1003070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71526"/>
            <a:ext cx="4364912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86970"/>
            <a:ext cx="5882762" cy="70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LittleSword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56223"/>
            <a:ext cx="27501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2026.03~2026.04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11462" y="1391426"/>
            <a:ext cx="10486377" cy="99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</a:pPr>
            <a:r>
              <a:rPr lang="en-US" sz="1699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이 프로젝트는 NetCode를 기반으로한 멀티 플레이어를 지원하는 2D RPG 게임으로 직관적인 인터페이스와 플레이 방법으로</a:t>
            </a:r>
          </a:p>
          <a:p>
            <a:pPr algn="just">
              <a:lnSpc>
                <a:spcPts val="2600"/>
              </a:lnSpc>
            </a:pPr>
            <a:r>
              <a:rPr lang="en-US" sz="1699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남녀노소 구분 없이 쉽게 플레이할 수 있는 게임입니다. BasePlayer,BaseEnemy 같은 코드를 상속 시켜 객체 지향을 준수한점이 돋보이는 작품이였습니다.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1526"/>
            <a:ext cx="4364912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86970"/>
            <a:ext cx="5882762" cy="70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LittleSword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56223"/>
            <a:ext cx="27501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2026.03~2026.04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11462" y="1391426"/>
            <a:ext cx="10486377" cy="99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</a:pPr>
            <a:r>
              <a:rPr lang="en-US" sz="1699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이 프로젝트는 NetCode를 기반으로한 멀티 플레이어를 지원하는 2D RPG 게임으로 직관적인 인터페이스와 플레이 방법으로</a:t>
            </a:r>
          </a:p>
          <a:p>
            <a:pPr algn="just">
              <a:lnSpc>
                <a:spcPts val="2600"/>
              </a:lnSpc>
            </a:pPr>
            <a:r>
              <a:rPr lang="en-US" sz="1699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남녀노소 구분 없이 쉽게 플레이할 수 있는 게임입니다. BasePlayer,BaseEnemy 같은 코드를 상속 시켜 객체 지향을 준수한점이 돋보이는 작품이였습니다.</a:t>
            </a:r>
          </a:p>
        </p:txBody>
      </p:sp>
      <p:pic>
        <p:nvPicPr>
          <p:cNvPr name="Picture 6" id="6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3509372" y="30861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609" y="2679463"/>
            <a:ext cx="14740758" cy="7105038"/>
          </a:xfrm>
          <a:custGeom>
            <a:avLst/>
            <a:gdLst/>
            <a:ahLst/>
            <a:cxnLst/>
            <a:rect r="r" b="b" t="t" l="l"/>
            <a:pathLst>
              <a:path h="7105038" w="14740758">
                <a:moveTo>
                  <a:pt x="0" y="0"/>
                </a:moveTo>
                <a:lnTo>
                  <a:pt x="14740759" y="0"/>
                </a:lnTo>
                <a:lnTo>
                  <a:pt x="14740759" y="7105038"/>
                </a:lnTo>
                <a:lnTo>
                  <a:pt x="0" y="7105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0" r="0" b="-7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71526"/>
            <a:ext cx="4364912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86970"/>
            <a:ext cx="5882762" cy="70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VR BaseBall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56223"/>
            <a:ext cx="27501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2026.03~2026.04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54534" y="1483885"/>
            <a:ext cx="10486377" cy="655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</a:pPr>
            <a:r>
              <a:rPr lang="en-US" sz="1699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이 프로젝트는 XR Interact 기능을 이용하여 Vertual Reality 공간에서 몰입감을 느끼며 직접 배트를 잡고 공을 친다는 느낌을</a:t>
            </a:r>
          </a:p>
          <a:p>
            <a:pPr algn="just">
              <a:lnSpc>
                <a:spcPts val="2600"/>
              </a:lnSpc>
            </a:pPr>
            <a:r>
              <a:rPr lang="en-US" sz="1699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받을 수 있도록 제작한 프로젝트 입니다. 타격 시 물리 작용을 구현하는 과정이 돋보이는 프로젝트였습니다.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3925" y="6018297"/>
            <a:ext cx="12680226" cy="260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8"/>
              </a:lnSpc>
            </a:pPr>
            <a:r>
              <a:rPr lang="en-US" sz="15263" b="true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</a:t>
            </a:r>
            <a:r>
              <a:rPr lang="en-US" b="true" sz="15263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79450"/>
            <a:ext cx="320044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B4B4B4"/>
                </a:solidFill>
                <a:latin typeface="윤고딕"/>
                <a:ea typeface="윤고딕"/>
                <a:cs typeface="윤고딕"/>
                <a:sym typeface="윤고딕"/>
              </a:rPr>
              <a:t>Ga Jin-Seong </a:t>
            </a:r>
            <a:r>
              <a:rPr lang="en-US" sz="2000" i="true" strike="noStrike" u="none">
                <a:solidFill>
                  <a:srgbClr val="B4B4B4"/>
                </a:solidFill>
                <a:latin typeface="윤고딕"/>
                <a:ea typeface="윤고딕"/>
                <a:cs typeface="윤고딕"/>
                <a:sym typeface="윤고딕"/>
              </a:rPr>
              <a:t>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DAHGBwDcXrY</dc:identifier>
  <dcterms:modified xsi:type="dcterms:W3CDTF">2011-08-01T06:04:30Z</dcterms:modified>
  <cp:revision>1</cp:revision>
  <dc:title>검정색 흰색 심플한 포트폴리오 프레젠테이션</dc:title>
</cp:coreProperties>
</file>