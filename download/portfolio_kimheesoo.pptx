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1" i="0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 u="heavy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1" i="0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 u="heavy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1" i="0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1" i="0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BFD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8549" y="1251103"/>
            <a:ext cx="9617075" cy="886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1" i="0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8549" y="2334022"/>
            <a:ext cx="7630795" cy="680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 u="heavy">
                <a:solidFill>
                  <a:srgbClr val="46546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hyperlink" Target="mailto:tndnjf@gmail.com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hyperlink" Target="https://www.youtube.com/watch?v=uoApfFPpKXs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0.png"/><Relationship Id="rId12" Type="http://schemas.openxmlformats.org/officeDocument/2006/relationships/hyperlink" Target="https://www.youtube.com/watch?v=Fq1Qn9mHmiQ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20.png"/><Relationship Id="rId10" Type="http://schemas.openxmlformats.org/officeDocument/2006/relationships/hyperlink" Target="https://www.youtube.com/watch?v=eibjbb5C7mw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hyperlink" Target="https://youtu.be/aQvtW7RGzi4" TargetMode="External"/><Relationship Id="rId8" Type="http://schemas.openxmlformats.org/officeDocument/2006/relationships/image" Target="../media/image40.png"/><Relationship Id="rId9" Type="http://schemas.openxmlformats.org/officeDocument/2006/relationships/hyperlink" Target="https://youtu.be/r8xU1PBkX6Q" TargetMode="External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hyperlink" Target="https://youtu.be/HuRggXjGQBo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tndnjf6391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6829553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 h="0">
                <a:moveTo>
                  <a:pt x="0" y="0"/>
                </a:moveTo>
                <a:lnTo>
                  <a:pt x="16230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994" y="3264486"/>
            <a:ext cx="6960870" cy="157797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150" spc="645">
                <a:latin typeface="Calibri"/>
                <a:cs typeface="Calibri"/>
              </a:rPr>
              <a:t>PORTFOLIO</a:t>
            </a:r>
            <a:endParaRPr sz="101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48994" y="7545410"/>
            <a:ext cx="1076960" cy="109347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300" spc="-10">
                <a:solidFill>
                  <a:srgbClr val="46546F"/>
                </a:solidFill>
                <a:latin typeface="Calibri"/>
                <a:cs typeface="Calibri"/>
              </a:rPr>
              <a:t>NAME: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3350" spc="-635">
                <a:solidFill>
                  <a:srgbClr val="46546F"/>
                </a:solidFill>
                <a:latin typeface="Malgun Gothic"/>
                <a:cs typeface="Malgun Gothic"/>
              </a:rPr>
              <a:t>김희수</a:t>
            </a:r>
            <a:endParaRPr sz="335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288732" y="7785923"/>
            <a:ext cx="2654300" cy="851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76300">
              <a:lnSpc>
                <a:spcPct val="100000"/>
              </a:lnSpc>
              <a:spcBef>
                <a:spcPts val="100"/>
              </a:spcBef>
            </a:pPr>
            <a:r>
              <a:rPr dirty="0" sz="2500" spc="-30">
                <a:solidFill>
                  <a:srgbClr val="46546F"/>
                </a:solidFill>
                <a:latin typeface="Lucida Sans"/>
                <a:cs typeface="Lucida Sans"/>
              </a:rPr>
              <a:t>2026.04.02</a:t>
            </a:r>
            <a:endParaRPr sz="25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520">
                <a:solidFill>
                  <a:srgbClr val="46546F"/>
                </a:solidFill>
                <a:latin typeface="Malgun Gothic"/>
                <a:cs typeface="Malgun Gothic"/>
              </a:rPr>
              <a:t>세명컴퓨터고등학교</a:t>
            </a:r>
            <a:endParaRPr sz="2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4105" y="3359657"/>
            <a:ext cx="4483485" cy="589864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3199" y="4896748"/>
            <a:ext cx="123824" cy="1238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3199" y="5458723"/>
            <a:ext cx="123824" cy="1238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3199" y="6582674"/>
            <a:ext cx="123824" cy="1238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58037" y="7139886"/>
            <a:ext cx="133350" cy="1333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58037" y="7701861"/>
            <a:ext cx="133350" cy="13335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58037" y="8263836"/>
            <a:ext cx="133350" cy="1333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58037" y="8825811"/>
            <a:ext cx="133350" cy="13335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54749" y="3486866"/>
            <a:ext cx="5372100" cy="5608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김희수</a:t>
            </a:r>
            <a:r>
              <a:rPr dirty="0" sz="3250" spc="-41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900" spc="-475">
                <a:solidFill>
                  <a:srgbClr val="46546F"/>
                </a:solidFill>
                <a:latin typeface="Verdana"/>
                <a:cs typeface="Verdana"/>
              </a:rPr>
              <a:t>|</a:t>
            </a:r>
            <a:r>
              <a:rPr dirty="0" sz="2900" spc="-29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900" spc="-35">
                <a:solidFill>
                  <a:srgbClr val="46546F"/>
                </a:solidFill>
                <a:latin typeface="Verdana"/>
                <a:cs typeface="Verdana"/>
              </a:rPr>
              <a:t>Unity</a:t>
            </a:r>
            <a:r>
              <a:rPr dirty="0" sz="2900" spc="-29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46546F"/>
                </a:solidFill>
                <a:latin typeface="Verdana"/>
                <a:cs typeface="Verdana"/>
              </a:rPr>
              <a:t>Client</a:t>
            </a:r>
            <a:r>
              <a:rPr dirty="0" sz="2900" spc="-29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46546F"/>
                </a:solidFill>
                <a:latin typeface="Verdana"/>
                <a:cs typeface="Verdana"/>
              </a:rPr>
              <a:t>Developer</a:t>
            </a:r>
            <a:endParaRPr sz="2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2900">
              <a:latin typeface="Verdana"/>
              <a:cs typeface="Verdana"/>
            </a:endParaRPr>
          </a:p>
          <a:p>
            <a:pPr marL="616585">
              <a:lnSpc>
                <a:spcPct val="100000"/>
              </a:lnSpc>
            </a:pPr>
            <a:r>
              <a:rPr dirty="0" sz="3150" spc="-590">
                <a:solidFill>
                  <a:srgbClr val="46546F"/>
                </a:solidFill>
                <a:latin typeface="Malgun Gothic"/>
                <a:cs typeface="Malgun Gothic"/>
              </a:rPr>
              <a:t>이메일</a:t>
            </a:r>
            <a:r>
              <a:rPr dirty="0" sz="2800" spc="-590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2800" spc="-30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800" spc="-10">
                <a:solidFill>
                  <a:srgbClr val="46546F"/>
                </a:solidFill>
                <a:latin typeface="Verdana"/>
                <a:cs typeface="Verdana"/>
                <a:hlinkClick r:id="rId9"/>
              </a:rPr>
              <a:t>tndnjf@gmail.com</a:t>
            </a:r>
            <a:endParaRPr sz="2800">
              <a:latin typeface="Verdana"/>
              <a:cs typeface="Verdana"/>
            </a:endParaRPr>
          </a:p>
          <a:p>
            <a:pPr marL="616585">
              <a:lnSpc>
                <a:spcPct val="100000"/>
              </a:lnSpc>
              <a:spcBef>
                <a:spcPts val="645"/>
              </a:spcBef>
            </a:pPr>
            <a:r>
              <a:rPr dirty="0" sz="3150" spc="-590">
                <a:solidFill>
                  <a:srgbClr val="46546F"/>
                </a:solidFill>
                <a:latin typeface="Malgun Gothic"/>
                <a:cs typeface="Malgun Gothic"/>
              </a:rPr>
              <a:t>연락처</a:t>
            </a:r>
            <a:r>
              <a:rPr dirty="0" sz="2800" spc="-590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2800" spc="-21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800" spc="-55">
                <a:solidFill>
                  <a:srgbClr val="46546F"/>
                </a:solidFill>
                <a:latin typeface="Verdana"/>
                <a:cs typeface="Verdana"/>
              </a:rPr>
              <a:t>010-</a:t>
            </a:r>
            <a:r>
              <a:rPr dirty="0" sz="2800" spc="-65">
                <a:solidFill>
                  <a:srgbClr val="46546F"/>
                </a:solidFill>
                <a:latin typeface="Verdana"/>
                <a:cs typeface="Verdana"/>
              </a:rPr>
              <a:t>9649-</a:t>
            </a:r>
            <a:r>
              <a:rPr dirty="0" sz="2800" spc="-20">
                <a:solidFill>
                  <a:srgbClr val="46546F"/>
                </a:solidFill>
                <a:latin typeface="Verdana"/>
                <a:cs typeface="Verdana"/>
              </a:rPr>
              <a:t>6391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2800">
              <a:latin typeface="Verdana"/>
              <a:cs typeface="Verdana"/>
            </a:endParaRPr>
          </a:p>
          <a:p>
            <a:pPr marL="616585">
              <a:lnSpc>
                <a:spcPct val="100000"/>
              </a:lnSpc>
              <a:spcBef>
                <a:spcPts val="5"/>
              </a:spcBef>
            </a:pPr>
            <a:r>
              <a:rPr dirty="0" sz="3150" spc="-605">
                <a:solidFill>
                  <a:srgbClr val="46546F"/>
                </a:solidFill>
                <a:latin typeface="Malgun Gothic"/>
                <a:cs typeface="Malgun Gothic"/>
              </a:rPr>
              <a:t>기술</a:t>
            </a:r>
            <a:r>
              <a:rPr dirty="0" sz="3150" spc="-42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150" spc="-630">
                <a:solidFill>
                  <a:srgbClr val="46546F"/>
                </a:solidFill>
                <a:latin typeface="Malgun Gothic"/>
                <a:cs typeface="Malgun Gothic"/>
              </a:rPr>
              <a:t>스택</a:t>
            </a:r>
            <a:endParaRPr sz="3150">
              <a:latin typeface="Malgun Gothic"/>
              <a:cs typeface="Malgun Gothic"/>
            </a:endParaRPr>
          </a:p>
          <a:p>
            <a:pPr marL="1221105" marR="2414905">
              <a:lnSpc>
                <a:spcPts val="4430"/>
              </a:lnSpc>
              <a:spcBef>
                <a:spcPts val="250"/>
              </a:spcBef>
            </a:pPr>
            <a:r>
              <a:rPr dirty="0" sz="2800" spc="-30">
                <a:solidFill>
                  <a:srgbClr val="46546F"/>
                </a:solidFill>
                <a:latin typeface="Verdana"/>
                <a:cs typeface="Verdana"/>
              </a:rPr>
              <a:t>Unity</a:t>
            </a:r>
            <a:r>
              <a:rPr dirty="0" sz="2800" spc="-27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800" spc="-325">
                <a:solidFill>
                  <a:srgbClr val="46546F"/>
                </a:solidFill>
                <a:latin typeface="Verdana"/>
                <a:cs typeface="Verdana"/>
              </a:rPr>
              <a:t>(C#) </a:t>
            </a:r>
            <a:r>
              <a:rPr dirty="0" sz="2800" spc="-10">
                <a:solidFill>
                  <a:srgbClr val="46546F"/>
                </a:solidFill>
                <a:latin typeface="Verdana"/>
                <a:cs typeface="Verdana"/>
              </a:rPr>
              <a:t>Netcode</a:t>
            </a:r>
            <a:endParaRPr sz="2800">
              <a:latin typeface="Verdana"/>
              <a:cs typeface="Verdana"/>
            </a:endParaRPr>
          </a:p>
          <a:p>
            <a:pPr marL="1221105">
              <a:lnSpc>
                <a:spcPct val="100000"/>
              </a:lnSpc>
              <a:spcBef>
                <a:spcPts val="735"/>
              </a:spcBef>
            </a:pPr>
            <a:r>
              <a:rPr dirty="0" sz="2800" spc="-35">
                <a:solidFill>
                  <a:srgbClr val="46546F"/>
                </a:solidFill>
                <a:latin typeface="Verdana"/>
                <a:cs typeface="Verdana"/>
              </a:rPr>
              <a:t>Json,</a:t>
            </a:r>
            <a:r>
              <a:rPr dirty="0" sz="2800" spc="-26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800" spc="-10">
                <a:solidFill>
                  <a:srgbClr val="46546F"/>
                </a:solidFill>
                <a:latin typeface="Verdana"/>
                <a:cs typeface="Verdana"/>
              </a:rPr>
              <a:t>Playerprefs</a:t>
            </a:r>
            <a:endParaRPr sz="2800">
              <a:latin typeface="Verdana"/>
              <a:cs typeface="Verdana"/>
            </a:endParaRPr>
          </a:p>
          <a:p>
            <a:pPr marL="1221105">
              <a:lnSpc>
                <a:spcPct val="100000"/>
              </a:lnSpc>
              <a:spcBef>
                <a:spcPts val="1065"/>
              </a:spcBef>
            </a:pPr>
            <a:r>
              <a:rPr dirty="0" sz="2800" spc="-25">
                <a:solidFill>
                  <a:srgbClr val="46546F"/>
                </a:solidFill>
                <a:latin typeface="Verdana"/>
                <a:cs typeface="Verdana"/>
              </a:rPr>
              <a:t>URP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0"/>
              <a:t>안녕하세요</a:t>
            </a:r>
            <a:r>
              <a:rPr dirty="0" sz="5000" spc="-950" b="0">
                <a:latin typeface="Arial Black"/>
                <a:cs typeface="Arial Black"/>
              </a:rPr>
              <a:t>,</a:t>
            </a:r>
            <a:r>
              <a:rPr dirty="0" sz="5000" spc="-470" b="0">
                <a:latin typeface="Arial Black"/>
                <a:cs typeface="Arial Black"/>
              </a:rPr>
              <a:t> </a:t>
            </a:r>
            <a:r>
              <a:rPr dirty="0" spc="-980"/>
              <a:t>김희수입니다</a:t>
            </a:r>
            <a:r>
              <a:rPr dirty="0" sz="5000" spc="-980" b="0">
                <a:latin typeface="Arial Black"/>
                <a:cs typeface="Arial Black"/>
              </a:rPr>
              <a:t>.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54749" y="852549"/>
            <a:ext cx="18522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5">
                <a:solidFill>
                  <a:srgbClr val="46546F"/>
                </a:solidFill>
                <a:latin typeface="Calibri"/>
                <a:cs typeface="Calibri"/>
              </a:rPr>
              <a:t>INTRODUCTION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66881" y="2504320"/>
            <a:ext cx="16554450" cy="0"/>
          </a:xfrm>
          <a:custGeom>
            <a:avLst/>
            <a:gdLst/>
            <a:ahLst/>
            <a:cxnLst/>
            <a:rect l="l" t="t" r="r" b="b"/>
            <a:pathLst>
              <a:path w="16554450" h="0">
                <a:moveTo>
                  <a:pt x="0" y="0"/>
                </a:moveTo>
                <a:lnTo>
                  <a:pt x="1655425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477" y="3534411"/>
            <a:ext cx="5045047" cy="602484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2085711" y="3553461"/>
            <a:ext cx="5006975" cy="5986780"/>
          </a:xfrm>
          <a:custGeom>
            <a:avLst/>
            <a:gdLst/>
            <a:ahLst/>
            <a:cxnLst/>
            <a:rect l="l" t="t" r="r" b="b"/>
            <a:pathLst>
              <a:path w="5006975" h="5986780">
                <a:moveTo>
                  <a:pt x="238120" y="0"/>
                </a:moveTo>
                <a:lnTo>
                  <a:pt x="4768819" y="0"/>
                </a:lnTo>
                <a:lnTo>
                  <a:pt x="4815489" y="4618"/>
                </a:lnTo>
                <a:lnTo>
                  <a:pt x="4859941" y="18127"/>
                </a:lnTo>
                <a:lnTo>
                  <a:pt x="4900924" y="40009"/>
                </a:lnTo>
                <a:lnTo>
                  <a:pt x="4937189" y="69746"/>
                </a:lnTo>
                <a:lnTo>
                  <a:pt x="4966922" y="106013"/>
                </a:lnTo>
                <a:lnTo>
                  <a:pt x="4988801" y="146997"/>
                </a:lnTo>
                <a:lnTo>
                  <a:pt x="5002307" y="191449"/>
                </a:lnTo>
                <a:lnTo>
                  <a:pt x="5006924" y="238120"/>
                </a:lnTo>
                <a:lnTo>
                  <a:pt x="5006924" y="5748641"/>
                </a:lnTo>
                <a:lnTo>
                  <a:pt x="5002307" y="5795310"/>
                </a:lnTo>
                <a:lnTo>
                  <a:pt x="4988800" y="5839761"/>
                </a:lnTo>
                <a:lnTo>
                  <a:pt x="4966921" y="5880744"/>
                </a:lnTo>
                <a:lnTo>
                  <a:pt x="4937186" y="5917009"/>
                </a:lnTo>
                <a:lnTo>
                  <a:pt x="4900922" y="5946743"/>
                </a:lnTo>
                <a:lnTo>
                  <a:pt x="4859939" y="5968623"/>
                </a:lnTo>
                <a:lnTo>
                  <a:pt x="4815488" y="5982130"/>
                </a:lnTo>
                <a:lnTo>
                  <a:pt x="4768819" y="5986747"/>
                </a:lnTo>
                <a:lnTo>
                  <a:pt x="238121" y="5986747"/>
                </a:lnTo>
                <a:lnTo>
                  <a:pt x="191451" y="5982131"/>
                </a:lnTo>
                <a:lnTo>
                  <a:pt x="146999" y="5968625"/>
                </a:lnTo>
                <a:lnTo>
                  <a:pt x="106014" y="5946746"/>
                </a:lnTo>
                <a:lnTo>
                  <a:pt x="69747" y="5917013"/>
                </a:lnTo>
                <a:lnTo>
                  <a:pt x="40009" y="5880748"/>
                </a:lnTo>
                <a:lnTo>
                  <a:pt x="18127" y="5839765"/>
                </a:lnTo>
                <a:lnTo>
                  <a:pt x="4618" y="5795313"/>
                </a:lnTo>
                <a:lnTo>
                  <a:pt x="0" y="5748642"/>
                </a:lnTo>
                <a:lnTo>
                  <a:pt x="0" y="238120"/>
                </a:lnTo>
                <a:lnTo>
                  <a:pt x="4617" y="191448"/>
                </a:lnTo>
                <a:lnTo>
                  <a:pt x="18125" y="146995"/>
                </a:lnTo>
                <a:lnTo>
                  <a:pt x="40007" y="106010"/>
                </a:lnTo>
                <a:lnTo>
                  <a:pt x="69743" y="69743"/>
                </a:lnTo>
                <a:lnTo>
                  <a:pt x="106011" y="40006"/>
                </a:lnTo>
                <a:lnTo>
                  <a:pt x="146995" y="18125"/>
                </a:lnTo>
                <a:lnTo>
                  <a:pt x="191448" y="4617"/>
                </a:lnTo>
                <a:lnTo>
                  <a:pt x="23812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2243" y="3534411"/>
            <a:ext cx="5045036" cy="602484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3817651" y="4172010"/>
            <a:ext cx="1543050" cy="1543050"/>
            <a:chOff x="13817651" y="4172010"/>
            <a:chExt cx="1543050" cy="1543050"/>
          </a:xfrm>
        </p:grpSpPr>
        <p:sp>
          <p:nvSpPr>
            <p:cNvPr id="6" name="object 6" descr=""/>
            <p:cNvSpPr/>
            <p:nvPr/>
          </p:nvSpPr>
          <p:spPr>
            <a:xfrm>
              <a:off x="13817639" y="4172012"/>
              <a:ext cx="1543050" cy="1543050"/>
            </a:xfrm>
            <a:custGeom>
              <a:avLst/>
              <a:gdLst/>
              <a:ahLst/>
              <a:cxnLst/>
              <a:rect l="l" t="t" r="r" b="b"/>
              <a:pathLst>
                <a:path w="1543050" h="1543050">
                  <a:moveTo>
                    <a:pt x="1543050" y="771512"/>
                  </a:moveTo>
                  <a:lnTo>
                    <a:pt x="1541538" y="722718"/>
                  </a:lnTo>
                  <a:lnTo>
                    <a:pt x="1537042" y="674738"/>
                  </a:lnTo>
                  <a:lnTo>
                    <a:pt x="1529664" y="627646"/>
                  </a:lnTo>
                  <a:lnTo>
                    <a:pt x="1519491" y="581545"/>
                  </a:lnTo>
                  <a:lnTo>
                    <a:pt x="1506613" y="536524"/>
                  </a:lnTo>
                  <a:lnTo>
                    <a:pt x="1491119" y="492671"/>
                  </a:lnTo>
                  <a:lnTo>
                    <a:pt x="1473111" y="450075"/>
                  </a:lnTo>
                  <a:lnTo>
                    <a:pt x="1452664" y="408825"/>
                  </a:lnTo>
                  <a:lnTo>
                    <a:pt x="1429867" y="369023"/>
                  </a:lnTo>
                  <a:lnTo>
                    <a:pt x="1404823" y="330733"/>
                  </a:lnTo>
                  <a:lnTo>
                    <a:pt x="1377619" y="294081"/>
                  </a:lnTo>
                  <a:lnTo>
                    <a:pt x="1348346" y="259130"/>
                  </a:lnTo>
                  <a:lnTo>
                    <a:pt x="1317078" y="225983"/>
                  </a:lnTo>
                  <a:lnTo>
                    <a:pt x="1283931" y="194716"/>
                  </a:lnTo>
                  <a:lnTo>
                    <a:pt x="1248981" y="165442"/>
                  </a:lnTo>
                  <a:lnTo>
                    <a:pt x="1212316" y="138239"/>
                  </a:lnTo>
                  <a:lnTo>
                    <a:pt x="1174038" y="113195"/>
                  </a:lnTo>
                  <a:lnTo>
                    <a:pt x="1134237" y="90398"/>
                  </a:lnTo>
                  <a:lnTo>
                    <a:pt x="1092987" y="69951"/>
                  </a:lnTo>
                  <a:lnTo>
                    <a:pt x="1050391" y="51930"/>
                  </a:lnTo>
                  <a:lnTo>
                    <a:pt x="1006525" y="36449"/>
                  </a:lnTo>
                  <a:lnTo>
                    <a:pt x="961504" y="23571"/>
                  </a:lnTo>
                  <a:lnTo>
                    <a:pt x="915403" y="13398"/>
                  </a:lnTo>
                  <a:lnTo>
                    <a:pt x="868324" y="6019"/>
                  </a:lnTo>
                  <a:lnTo>
                    <a:pt x="820331" y="1524"/>
                  </a:lnTo>
                  <a:lnTo>
                    <a:pt x="771550" y="0"/>
                  </a:lnTo>
                  <a:lnTo>
                    <a:pt x="722757" y="1524"/>
                  </a:lnTo>
                  <a:lnTo>
                    <a:pt x="674763" y="6019"/>
                  </a:lnTo>
                  <a:lnTo>
                    <a:pt x="627672" y="13398"/>
                  </a:lnTo>
                  <a:lnTo>
                    <a:pt x="581571" y="23571"/>
                  </a:lnTo>
                  <a:lnTo>
                    <a:pt x="536549" y="36449"/>
                  </a:lnTo>
                  <a:lnTo>
                    <a:pt x="492696" y="51930"/>
                  </a:lnTo>
                  <a:lnTo>
                    <a:pt x="450088" y="69951"/>
                  </a:lnTo>
                  <a:lnTo>
                    <a:pt x="408838" y="90398"/>
                  </a:lnTo>
                  <a:lnTo>
                    <a:pt x="369036" y="113195"/>
                  </a:lnTo>
                  <a:lnTo>
                    <a:pt x="330746" y="138239"/>
                  </a:lnTo>
                  <a:lnTo>
                    <a:pt x="294081" y="165442"/>
                  </a:lnTo>
                  <a:lnTo>
                    <a:pt x="259130" y="194716"/>
                  </a:lnTo>
                  <a:lnTo>
                    <a:pt x="225983" y="225983"/>
                  </a:lnTo>
                  <a:lnTo>
                    <a:pt x="194729" y="259130"/>
                  </a:lnTo>
                  <a:lnTo>
                    <a:pt x="165442" y="294081"/>
                  </a:lnTo>
                  <a:lnTo>
                    <a:pt x="138239" y="330733"/>
                  </a:lnTo>
                  <a:lnTo>
                    <a:pt x="113195" y="369023"/>
                  </a:lnTo>
                  <a:lnTo>
                    <a:pt x="90398" y="408825"/>
                  </a:lnTo>
                  <a:lnTo>
                    <a:pt x="69951" y="450075"/>
                  </a:lnTo>
                  <a:lnTo>
                    <a:pt x="51943" y="492671"/>
                  </a:lnTo>
                  <a:lnTo>
                    <a:pt x="36449" y="536524"/>
                  </a:lnTo>
                  <a:lnTo>
                    <a:pt x="23571" y="581545"/>
                  </a:lnTo>
                  <a:lnTo>
                    <a:pt x="13398" y="627646"/>
                  </a:lnTo>
                  <a:lnTo>
                    <a:pt x="6019" y="674738"/>
                  </a:lnTo>
                  <a:lnTo>
                    <a:pt x="1524" y="722718"/>
                  </a:lnTo>
                  <a:lnTo>
                    <a:pt x="0" y="771512"/>
                  </a:lnTo>
                  <a:lnTo>
                    <a:pt x="1524" y="820305"/>
                  </a:lnTo>
                  <a:lnTo>
                    <a:pt x="6019" y="868299"/>
                  </a:lnTo>
                  <a:lnTo>
                    <a:pt x="13398" y="915377"/>
                  </a:lnTo>
                  <a:lnTo>
                    <a:pt x="23571" y="961491"/>
                  </a:lnTo>
                  <a:lnTo>
                    <a:pt x="36449" y="1006513"/>
                  </a:lnTo>
                  <a:lnTo>
                    <a:pt x="51943" y="1050366"/>
                  </a:lnTo>
                  <a:lnTo>
                    <a:pt x="69951" y="1092962"/>
                  </a:lnTo>
                  <a:lnTo>
                    <a:pt x="90398" y="1134224"/>
                  </a:lnTo>
                  <a:lnTo>
                    <a:pt x="113195" y="1174026"/>
                  </a:lnTo>
                  <a:lnTo>
                    <a:pt x="138239" y="1212316"/>
                  </a:lnTo>
                  <a:lnTo>
                    <a:pt x="165442" y="1248968"/>
                  </a:lnTo>
                  <a:lnTo>
                    <a:pt x="194729" y="1283919"/>
                  </a:lnTo>
                  <a:lnTo>
                    <a:pt x="225983" y="1317078"/>
                  </a:lnTo>
                  <a:lnTo>
                    <a:pt x="259130" y="1348333"/>
                  </a:lnTo>
                  <a:lnTo>
                    <a:pt x="294081" y="1377607"/>
                  </a:lnTo>
                  <a:lnTo>
                    <a:pt x="330746" y="1404823"/>
                  </a:lnTo>
                  <a:lnTo>
                    <a:pt x="369036" y="1429867"/>
                  </a:lnTo>
                  <a:lnTo>
                    <a:pt x="408838" y="1452651"/>
                  </a:lnTo>
                  <a:lnTo>
                    <a:pt x="450088" y="1473098"/>
                  </a:lnTo>
                  <a:lnTo>
                    <a:pt x="492696" y="1491119"/>
                  </a:lnTo>
                  <a:lnTo>
                    <a:pt x="536549" y="1506613"/>
                  </a:lnTo>
                  <a:lnTo>
                    <a:pt x="581571" y="1519491"/>
                  </a:lnTo>
                  <a:lnTo>
                    <a:pt x="627672" y="1529664"/>
                  </a:lnTo>
                  <a:lnTo>
                    <a:pt x="674763" y="1537042"/>
                  </a:lnTo>
                  <a:lnTo>
                    <a:pt x="722757" y="1541538"/>
                  </a:lnTo>
                  <a:lnTo>
                    <a:pt x="771550" y="1543050"/>
                  </a:lnTo>
                  <a:lnTo>
                    <a:pt x="820331" y="1541538"/>
                  </a:lnTo>
                  <a:lnTo>
                    <a:pt x="868324" y="1537042"/>
                  </a:lnTo>
                  <a:lnTo>
                    <a:pt x="915403" y="1529664"/>
                  </a:lnTo>
                  <a:lnTo>
                    <a:pt x="961504" y="1519491"/>
                  </a:lnTo>
                  <a:lnTo>
                    <a:pt x="1006525" y="1506613"/>
                  </a:lnTo>
                  <a:lnTo>
                    <a:pt x="1050391" y="1491119"/>
                  </a:lnTo>
                  <a:lnTo>
                    <a:pt x="1092987" y="1473098"/>
                  </a:lnTo>
                  <a:lnTo>
                    <a:pt x="1134237" y="1452651"/>
                  </a:lnTo>
                  <a:lnTo>
                    <a:pt x="1174038" y="1429867"/>
                  </a:lnTo>
                  <a:lnTo>
                    <a:pt x="1212316" y="1404823"/>
                  </a:lnTo>
                  <a:lnTo>
                    <a:pt x="1248981" y="1377607"/>
                  </a:lnTo>
                  <a:lnTo>
                    <a:pt x="1283931" y="1348333"/>
                  </a:lnTo>
                  <a:lnTo>
                    <a:pt x="1317078" y="1317078"/>
                  </a:lnTo>
                  <a:lnTo>
                    <a:pt x="1348346" y="1283919"/>
                  </a:lnTo>
                  <a:lnTo>
                    <a:pt x="1377619" y="1248968"/>
                  </a:lnTo>
                  <a:lnTo>
                    <a:pt x="1404823" y="1212316"/>
                  </a:lnTo>
                  <a:lnTo>
                    <a:pt x="1429867" y="1174026"/>
                  </a:lnTo>
                  <a:lnTo>
                    <a:pt x="1452664" y="1134224"/>
                  </a:lnTo>
                  <a:lnTo>
                    <a:pt x="1473111" y="1092962"/>
                  </a:lnTo>
                  <a:lnTo>
                    <a:pt x="1491119" y="1050366"/>
                  </a:lnTo>
                  <a:lnTo>
                    <a:pt x="1506613" y="1006513"/>
                  </a:lnTo>
                  <a:lnTo>
                    <a:pt x="1519491" y="961491"/>
                  </a:lnTo>
                  <a:lnTo>
                    <a:pt x="1529664" y="915377"/>
                  </a:lnTo>
                  <a:lnTo>
                    <a:pt x="1537042" y="868299"/>
                  </a:lnTo>
                  <a:lnTo>
                    <a:pt x="1541538" y="820305"/>
                  </a:lnTo>
                  <a:lnTo>
                    <a:pt x="1543050" y="771512"/>
                  </a:lnTo>
                  <a:close/>
                </a:path>
              </a:pathLst>
            </a:custGeom>
            <a:solidFill>
              <a:srgbClr val="4654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310892" y="5110297"/>
              <a:ext cx="151130" cy="97155"/>
            </a:xfrm>
            <a:custGeom>
              <a:avLst/>
              <a:gdLst/>
              <a:ahLst/>
              <a:cxnLst/>
              <a:rect l="l" t="t" r="r" b="b"/>
              <a:pathLst>
                <a:path w="151130" h="97154">
                  <a:moveTo>
                    <a:pt x="143669" y="97147"/>
                  </a:moveTo>
                  <a:lnTo>
                    <a:pt x="6925" y="97147"/>
                  </a:lnTo>
                  <a:lnTo>
                    <a:pt x="4516" y="96131"/>
                  </a:lnTo>
                  <a:lnTo>
                    <a:pt x="1016" y="92630"/>
                  </a:lnTo>
                  <a:lnTo>
                    <a:pt x="0" y="90221"/>
                  </a:lnTo>
                  <a:lnTo>
                    <a:pt x="0" y="6925"/>
                  </a:lnTo>
                  <a:lnTo>
                    <a:pt x="1016" y="4516"/>
                  </a:lnTo>
                  <a:lnTo>
                    <a:pt x="2747" y="2747"/>
                  </a:lnTo>
                  <a:lnTo>
                    <a:pt x="4516" y="1016"/>
                  </a:lnTo>
                  <a:lnTo>
                    <a:pt x="6925" y="0"/>
                  </a:lnTo>
                  <a:lnTo>
                    <a:pt x="143669" y="0"/>
                  </a:lnTo>
                  <a:lnTo>
                    <a:pt x="146078" y="1016"/>
                  </a:lnTo>
                  <a:lnTo>
                    <a:pt x="147847" y="2747"/>
                  </a:lnTo>
                  <a:lnTo>
                    <a:pt x="149616" y="4516"/>
                  </a:lnTo>
                  <a:lnTo>
                    <a:pt x="150595" y="6925"/>
                  </a:lnTo>
                  <a:lnTo>
                    <a:pt x="150595" y="18819"/>
                  </a:lnTo>
                  <a:lnTo>
                    <a:pt x="18819" y="18819"/>
                  </a:lnTo>
                  <a:lnTo>
                    <a:pt x="18819" y="78327"/>
                  </a:lnTo>
                  <a:lnTo>
                    <a:pt x="131775" y="78327"/>
                  </a:lnTo>
                  <a:lnTo>
                    <a:pt x="131775" y="87737"/>
                  </a:lnTo>
                  <a:lnTo>
                    <a:pt x="150595" y="87737"/>
                  </a:lnTo>
                  <a:lnTo>
                    <a:pt x="150595" y="90221"/>
                  </a:lnTo>
                  <a:lnTo>
                    <a:pt x="149616" y="92630"/>
                  </a:lnTo>
                  <a:lnTo>
                    <a:pt x="147847" y="94362"/>
                  </a:lnTo>
                  <a:lnTo>
                    <a:pt x="146078" y="96131"/>
                  </a:lnTo>
                  <a:lnTo>
                    <a:pt x="143669" y="97147"/>
                  </a:lnTo>
                  <a:close/>
                </a:path>
                <a:path w="151130" h="97154">
                  <a:moveTo>
                    <a:pt x="141185" y="87737"/>
                  </a:moveTo>
                  <a:lnTo>
                    <a:pt x="131775" y="87737"/>
                  </a:lnTo>
                  <a:lnTo>
                    <a:pt x="131775" y="18819"/>
                  </a:lnTo>
                  <a:lnTo>
                    <a:pt x="150595" y="18819"/>
                  </a:lnTo>
                  <a:lnTo>
                    <a:pt x="150595" y="78327"/>
                  </a:lnTo>
                  <a:lnTo>
                    <a:pt x="141185" y="78327"/>
                  </a:lnTo>
                  <a:lnTo>
                    <a:pt x="141185" y="87737"/>
                  </a:lnTo>
                  <a:close/>
                </a:path>
                <a:path w="151130" h="97154">
                  <a:moveTo>
                    <a:pt x="150595" y="87737"/>
                  </a:moveTo>
                  <a:lnTo>
                    <a:pt x="141185" y="87737"/>
                  </a:lnTo>
                  <a:lnTo>
                    <a:pt x="141185" y="78327"/>
                  </a:lnTo>
                  <a:lnTo>
                    <a:pt x="150595" y="78327"/>
                  </a:lnTo>
                  <a:lnTo>
                    <a:pt x="150595" y="87737"/>
                  </a:lnTo>
                  <a:close/>
                </a:path>
              </a:pathLst>
            </a:custGeom>
            <a:solidFill>
              <a:srgbClr val="FBF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726168" y="5119706"/>
              <a:ext cx="132080" cy="78740"/>
            </a:xfrm>
            <a:custGeom>
              <a:avLst/>
              <a:gdLst/>
              <a:ahLst/>
              <a:cxnLst/>
              <a:rect l="l" t="t" r="r" b="b"/>
              <a:pathLst>
                <a:path w="132080" h="78739">
                  <a:moveTo>
                    <a:pt x="131775" y="78327"/>
                  </a:moveTo>
                  <a:lnTo>
                    <a:pt x="0" y="78327"/>
                  </a:lnTo>
                  <a:lnTo>
                    <a:pt x="0" y="0"/>
                  </a:lnTo>
                  <a:lnTo>
                    <a:pt x="131775" y="0"/>
                  </a:lnTo>
                  <a:lnTo>
                    <a:pt x="131775" y="78327"/>
                  </a:lnTo>
                  <a:close/>
                </a:path>
              </a:pathLst>
            </a:custGeom>
            <a:solidFill>
              <a:srgbClr val="4654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716758" y="5110297"/>
              <a:ext cx="151130" cy="97155"/>
            </a:xfrm>
            <a:custGeom>
              <a:avLst/>
              <a:gdLst/>
              <a:ahLst/>
              <a:cxnLst/>
              <a:rect l="l" t="t" r="r" b="b"/>
              <a:pathLst>
                <a:path w="151130" h="97154">
                  <a:moveTo>
                    <a:pt x="143669" y="97147"/>
                  </a:moveTo>
                  <a:lnTo>
                    <a:pt x="6925" y="97147"/>
                  </a:lnTo>
                  <a:lnTo>
                    <a:pt x="4516" y="96131"/>
                  </a:lnTo>
                  <a:lnTo>
                    <a:pt x="2747" y="94362"/>
                  </a:lnTo>
                  <a:lnTo>
                    <a:pt x="978" y="92630"/>
                  </a:lnTo>
                  <a:lnTo>
                    <a:pt x="0" y="90221"/>
                  </a:lnTo>
                  <a:lnTo>
                    <a:pt x="0" y="6925"/>
                  </a:lnTo>
                  <a:lnTo>
                    <a:pt x="978" y="4516"/>
                  </a:lnTo>
                  <a:lnTo>
                    <a:pt x="2747" y="2747"/>
                  </a:lnTo>
                  <a:lnTo>
                    <a:pt x="4516" y="1016"/>
                  </a:lnTo>
                  <a:lnTo>
                    <a:pt x="6925" y="0"/>
                  </a:lnTo>
                  <a:lnTo>
                    <a:pt x="143669" y="0"/>
                  </a:lnTo>
                  <a:lnTo>
                    <a:pt x="146078" y="1016"/>
                  </a:lnTo>
                  <a:lnTo>
                    <a:pt x="147847" y="2747"/>
                  </a:lnTo>
                  <a:lnTo>
                    <a:pt x="149579" y="4516"/>
                  </a:lnTo>
                  <a:lnTo>
                    <a:pt x="150595" y="6925"/>
                  </a:lnTo>
                  <a:lnTo>
                    <a:pt x="150595" y="18819"/>
                  </a:lnTo>
                  <a:lnTo>
                    <a:pt x="18819" y="18819"/>
                  </a:lnTo>
                  <a:lnTo>
                    <a:pt x="18819" y="78327"/>
                  </a:lnTo>
                  <a:lnTo>
                    <a:pt x="131775" y="78327"/>
                  </a:lnTo>
                  <a:lnTo>
                    <a:pt x="131775" y="87737"/>
                  </a:lnTo>
                  <a:lnTo>
                    <a:pt x="150595" y="87737"/>
                  </a:lnTo>
                  <a:lnTo>
                    <a:pt x="150595" y="90221"/>
                  </a:lnTo>
                  <a:lnTo>
                    <a:pt x="149579" y="92630"/>
                  </a:lnTo>
                  <a:lnTo>
                    <a:pt x="146078" y="96131"/>
                  </a:lnTo>
                  <a:lnTo>
                    <a:pt x="143669" y="97147"/>
                  </a:lnTo>
                  <a:close/>
                </a:path>
                <a:path w="151130" h="97154">
                  <a:moveTo>
                    <a:pt x="141185" y="87737"/>
                  </a:moveTo>
                  <a:lnTo>
                    <a:pt x="131775" y="87737"/>
                  </a:lnTo>
                  <a:lnTo>
                    <a:pt x="131775" y="18819"/>
                  </a:lnTo>
                  <a:lnTo>
                    <a:pt x="150595" y="18819"/>
                  </a:lnTo>
                  <a:lnTo>
                    <a:pt x="150595" y="78327"/>
                  </a:lnTo>
                  <a:lnTo>
                    <a:pt x="141185" y="78327"/>
                  </a:lnTo>
                  <a:lnTo>
                    <a:pt x="141185" y="87737"/>
                  </a:lnTo>
                  <a:close/>
                </a:path>
                <a:path w="151130" h="97154">
                  <a:moveTo>
                    <a:pt x="150595" y="87737"/>
                  </a:moveTo>
                  <a:lnTo>
                    <a:pt x="141185" y="87737"/>
                  </a:lnTo>
                  <a:lnTo>
                    <a:pt x="141185" y="78327"/>
                  </a:lnTo>
                  <a:lnTo>
                    <a:pt x="150595" y="78327"/>
                  </a:lnTo>
                  <a:lnTo>
                    <a:pt x="150595" y="87737"/>
                  </a:lnTo>
                  <a:close/>
                </a:path>
              </a:pathLst>
            </a:custGeom>
            <a:solidFill>
              <a:srgbClr val="FBF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194511" y="4609278"/>
              <a:ext cx="789305" cy="536575"/>
            </a:xfrm>
            <a:custGeom>
              <a:avLst/>
              <a:gdLst/>
              <a:ahLst/>
              <a:cxnLst/>
              <a:rect l="l" t="t" r="r" b="b"/>
              <a:pathLst>
                <a:path w="789305" h="536575">
                  <a:moveTo>
                    <a:pt x="783803" y="536023"/>
                  </a:moveTo>
                  <a:lnTo>
                    <a:pt x="5420" y="536023"/>
                  </a:lnTo>
                  <a:lnTo>
                    <a:pt x="0" y="530603"/>
                  </a:lnTo>
                  <a:lnTo>
                    <a:pt x="0" y="523903"/>
                  </a:lnTo>
                  <a:lnTo>
                    <a:pt x="0" y="5382"/>
                  </a:lnTo>
                  <a:lnTo>
                    <a:pt x="5420" y="0"/>
                  </a:lnTo>
                  <a:lnTo>
                    <a:pt x="783803" y="0"/>
                  </a:lnTo>
                  <a:lnTo>
                    <a:pt x="789223" y="5382"/>
                  </a:lnTo>
                  <a:lnTo>
                    <a:pt x="789223" y="530603"/>
                  </a:lnTo>
                  <a:lnTo>
                    <a:pt x="783803" y="536023"/>
                  </a:lnTo>
                  <a:close/>
                </a:path>
              </a:pathLst>
            </a:custGeom>
            <a:solidFill>
              <a:srgbClr val="4654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185101" y="4599830"/>
              <a:ext cx="808355" cy="554990"/>
            </a:xfrm>
            <a:custGeom>
              <a:avLst/>
              <a:gdLst/>
              <a:ahLst/>
              <a:cxnLst/>
              <a:rect l="l" t="t" r="r" b="b"/>
              <a:pathLst>
                <a:path w="808355" h="554989">
                  <a:moveTo>
                    <a:pt x="792423" y="554880"/>
                  </a:moveTo>
                  <a:lnTo>
                    <a:pt x="15620" y="554880"/>
                  </a:lnTo>
                  <a:lnTo>
                    <a:pt x="10162" y="552434"/>
                  </a:lnTo>
                  <a:lnTo>
                    <a:pt x="2408" y="544680"/>
                  </a:lnTo>
                  <a:lnTo>
                    <a:pt x="0" y="539260"/>
                  </a:lnTo>
                  <a:lnTo>
                    <a:pt x="0" y="15658"/>
                  </a:lnTo>
                  <a:lnTo>
                    <a:pt x="2408" y="10200"/>
                  </a:lnTo>
                  <a:lnTo>
                    <a:pt x="10162" y="2446"/>
                  </a:lnTo>
                  <a:lnTo>
                    <a:pt x="15620" y="0"/>
                  </a:lnTo>
                  <a:lnTo>
                    <a:pt x="792423" y="0"/>
                  </a:lnTo>
                  <a:lnTo>
                    <a:pt x="797880" y="2446"/>
                  </a:lnTo>
                  <a:lnTo>
                    <a:pt x="805634" y="10200"/>
                  </a:lnTo>
                  <a:lnTo>
                    <a:pt x="808043" y="15658"/>
                  </a:lnTo>
                  <a:lnTo>
                    <a:pt x="808043" y="18857"/>
                  </a:lnTo>
                  <a:lnTo>
                    <a:pt x="20024" y="18857"/>
                  </a:lnTo>
                  <a:lnTo>
                    <a:pt x="18857" y="20024"/>
                  </a:lnTo>
                  <a:lnTo>
                    <a:pt x="18819" y="534103"/>
                  </a:lnTo>
                  <a:lnTo>
                    <a:pt x="20739" y="536061"/>
                  </a:lnTo>
                  <a:lnTo>
                    <a:pt x="808043" y="536061"/>
                  </a:lnTo>
                  <a:lnTo>
                    <a:pt x="808043" y="539260"/>
                  </a:lnTo>
                  <a:lnTo>
                    <a:pt x="805634" y="544680"/>
                  </a:lnTo>
                  <a:lnTo>
                    <a:pt x="797880" y="552434"/>
                  </a:lnTo>
                  <a:lnTo>
                    <a:pt x="792423" y="554880"/>
                  </a:lnTo>
                  <a:close/>
                </a:path>
                <a:path w="808355" h="554989">
                  <a:moveTo>
                    <a:pt x="808043" y="536061"/>
                  </a:moveTo>
                  <a:lnTo>
                    <a:pt x="787304" y="536061"/>
                  </a:lnTo>
                  <a:lnTo>
                    <a:pt x="787906" y="535759"/>
                  </a:lnTo>
                  <a:lnTo>
                    <a:pt x="788433" y="535270"/>
                  </a:lnTo>
                  <a:lnTo>
                    <a:pt x="788922" y="534743"/>
                  </a:lnTo>
                  <a:lnTo>
                    <a:pt x="789223" y="534103"/>
                  </a:lnTo>
                  <a:lnTo>
                    <a:pt x="789223" y="20024"/>
                  </a:lnTo>
                  <a:lnTo>
                    <a:pt x="788019" y="18857"/>
                  </a:lnTo>
                  <a:lnTo>
                    <a:pt x="808043" y="18857"/>
                  </a:lnTo>
                  <a:lnTo>
                    <a:pt x="808043" y="536061"/>
                  </a:lnTo>
                  <a:close/>
                </a:path>
              </a:pathLst>
            </a:custGeom>
            <a:solidFill>
              <a:srgbClr val="FBF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194511" y="5032119"/>
              <a:ext cx="789305" cy="113664"/>
            </a:xfrm>
            <a:custGeom>
              <a:avLst/>
              <a:gdLst/>
              <a:ahLst/>
              <a:cxnLst/>
              <a:rect l="l" t="t" r="r" b="b"/>
              <a:pathLst>
                <a:path w="789305" h="113664">
                  <a:moveTo>
                    <a:pt x="783803" y="113181"/>
                  </a:moveTo>
                  <a:lnTo>
                    <a:pt x="5420" y="113181"/>
                  </a:lnTo>
                  <a:lnTo>
                    <a:pt x="0" y="107761"/>
                  </a:lnTo>
                  <a:lnTo>
                    <a:pt x="0" y="0"/>
                  </a:lnTo>
                  <a:lnTo>
                    <a:pt x="789223" y="0"/>
                  </a:lnTo>
                  <a:lnTo>
                    <a:pt x="789223" y="107761"/>
                  </a:lnTo>
                  <a:lnTo>
                    <a:pt x="783803" y="113181"/>
                  </a:lnTo>
                  <a:close/>
                </a:path>
              </a:pathLst>
            </a:custGeom>
            <a:solidFill>
              <a:srgbClr val="4654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185101" y="5022710"/>
              <a:ext cx="808355" cy="132080"/>
            </a:xfrm>
            <a:custGeom>
              <a:avLst/>
              <a:gdLst/>
              <a:ahLst/>
              <a:cxnLst/>
              <a:rect l="l" t="t" r="r" b="b"/>
              <a:pathLst>
                <a:path w="808355" h="132079">
                  <a:moveTo>
                    <a:pt x="792423" y="132001"/>
                  </a:moveTo>
                  <a:lnTo>
                    <a:pt x="15620" y="132001"/>
                  </a:lnTo>
                  <a:lnTo>
                    <a:pt x="10162" y="129554"/>
                  </a:lnTo>
                  <a:lnTo>
                    <a:pt x="2408" y="121801"/>
                  </a:lnTo>
                  <a:lnTo>
                    <a:pt x="0" y="116381"/>
                  </a:lnTo>
                  <a:lnTo>
                    <a:pt x="0" y="6925"/>
                  </a:lnTo>
                  <a:lnTo>
                    <a:pt x="1016" y="4516"/>
                  </a:lnTo>
                  <a:lnTo>
                    <a:pt x="2747" y="2747"/>
                  </a:lnTo>
                  <a:lnTo>
                    <a:pt x="4516" y="1016"/>
                  </a:lnTo>
                  <a:lnTo>
                    <a:pt x="6925" y="0"/>
                  </a:lnTo>
                  <a:lnTo>
                    <a:pt x="801117" y="0"/>
                  </a:lnTo>
                  <a:lnTo>
                    <a:pt x="803526" y="1016"/>
                  </a:lnTo>
                  <a:lnTo>
                    <a:pt x="805295" y="2747"/>
                  </a:lnTo>
                  <a:lnTo>
                    <a:pt x="807027" y="4516"/>
                  </a:lnTo>
                  <a:lnTo>
                    <a:pt x="808043" y="6925"/>
                  </a:lnTo>
                  <a:lnTo>
                    <a:pt x="808043" y="9409"/>
                  </a:lnTo>
                  <a:lnTo>
                    <a:pt x="9409" y="9409"/>
                  </a:lnTo>
                  <a:lnTo>
                    <a:pt x="9409" y="18819"/>
                  </a:lnTo>
                  <a:lnTo>
                    <a:pt x="18819" y="18819"/>
                  </a:lnTo>
                  <a:lnTo>
                    <a:pt x="18819" y="111224"/>
                  </a:lnTo>
                  <a:lnTo>
                    <a:pt x="19120" y="111864"/>
                  </a:lnTo>
                  <a:lnTo>
                    <a:pt x="19610" y="112391"/>
                  </a:lnTo>
                  <a:lnTo>
                    <a:pt x="20137" y="112880"/>
                  </a:lnTo>
                  <a:lnTo>
                    <a:pt x="20739" y="113181"/>
                  </a:lnTo>
                  <a:lnTo>
                    <a:pt x="808043" y="113181"/>
                  </a:lnTo>
                  <a:lnTo>
                    <a:pt x="808043" y="116381"/>
                  </a:lnTo>
                  <a:lnTo>
                    <a:pt x="805634" y="121801"/>
                  </a:lnTo>
                  <a:lnTo>
                    <a:pt x="797880" y="129554"/>
                  </a:lnTo>
                  <a:lnTo>
                    <a:pt x="792423" y="132001"/>
                  </a:lnTo>
                  <a:close/>
                </a:path>
                <a:path w="808355" h="132079">
                  <a:moveTo>
                    <a:pt x="18819" y="18819"/>
                  </a:moveTo>
                  <a:lnTo>
                    <a:pt x="9409" y="18819"/>
                  </a:lnTo>
                  <a:lnTo>
                    <a:pt x="9409" y="9409"/>
                  </a:lnTo>
                  <a:lnTo>
                    <a:pt x="18819" y="9409"/>
                  </a:lnTo>
                  <a:lnTo>
                    <a:pt x="18819" y="18819"/>
                  </a:lnTo>
                  <a:close/>
                </a:path>
                <a:path w="808355" h="132079">
                  <a:moveTo>
                    <a:pt x="808043" y="113181"/>
                  </a:moveTo>
                  <a:lnTo>
                    <a:pt x="787304" y="113181"/>
                  </a:lnTo>
                  <a:lnTo>
                    <a:pt x="787906" y="112880"/>
                  </a:lnTo>
                  <a:lnTo>
                    <a:pt x="788433" y="112391"/>
                  </a:lnTo>
                  <a:lnTo>
                    <a:pt x="788922" y="111864"/>
                  </a:lnTo>
                  <a:lnTo>
                    <a:pt x="789223" y="111224"/>
                  </a:lnTo>
                  <a:lnTo>
                    <a:pt x="789223" y="18819"/>
                  </a:lnTo>
                  <a:lnTo>
                    <a:pt x="18819" y="18819"/>
                  </a:lnTo>
                  <a:lnTo>
                    <a:pt x="18819" y="9409"/>
                  </a:lnTo>
                  <a:lnTo>
                    <a:pt x="808043" y="9409"/>
                  </a:lnTo>
                  <a:lnTo>
                    <a:pt x="808043" y="113181"/>
                  </a:lnTo>
                  <a:close/>
                </a:path>
              </a:pathLst>
            </a:custGeom>
            <a:solidFill>
              <a:srgbClr val="FBFD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52123" y="5055080"/>
              <a:ext cx="74036" cy="7403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4162348" y="5190130"/>
              <a:ext cx="854075" cy="86995"/>
            </a:xfrm>
            <a:custGeom>
              <a:avLst/>
              <a:gdLst/>
              <a:ahLst/>
              <a:cxnLst/>
              <a:rect l="l" t="t" r="r" b="b"/>
              <a:pathLst>
                <a:path w="854075" h="86995">
                  <a:moveTo>
                    <a:pt x="829818" y="86947"/>
                  </a:moveTo>
                  <a:lnTo>
                    <a:pt x="23731" y="86947"/>
                  </a:lnTo>
                  <a:lnTo>
                    <a:pt x="14497" y="85083"/>
                  </a:lnTo>
                  <a:lnTo>
                    <a:pt x="6953" y="80002"/>
                  </a:lnTo>
                  <a:lnTo>
                    <a:pt x="1866" y="72465"/>
                  </a:lnTo>
                  <a:lnTo>
                    <a:pt x="0" y="63234"/>
                  </a:lnTo>
                  <a:lnTo>
                    <a:pt x="18" y="0"/>
                  </a:lnTo>
                  <a:lnTo>
                    <a:pt x="853530" y="0"/>
                  </a:lnTo>
                  <a:lnTo>
                    <a:pt x="853530" y="63234"/>
                  </a:lnTo>
                  <a:lnTo>
                    <a:pt x="851667" y="72465"/>
                  </a:lnTo>
                  <a:lnTo>
                    <a:pt x="846586" y="80002"/>
                  </a:lnTo>
                  <a:lnTo>
                    <a:pt x="839049" y="85083"/>
                  </a:lnTo>
                  <a:lnTo>
                    <a:pt x="829818" y="86947"/>
                  </a:lnTo>
                  <a:close/>
                </a:path>
              </a:pathLst>
            </a:custGeom>
            <a:solidFill>
              <a:srgbClr val="4654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152919" y="5180723"/>
              <a:ext cx="872490" cy="106045"/>
            </a:xfrm>
            <a:custGeom>
              <a:avLst/>
              <a:gdLst/>
              <a:ahLst/>
              <a:cxnLst/>
              <a:rect l="l" t="t" r="r" b="b"/>
              <a:pathLst>
                <a:path w="872490" h="106045">
                  <a:moveTo>
                    <a:pt x="872401" y="81749"/>
                  </a:moveTo>
                  <a:lnTo>
                    <a:pt x="872363" y="9410"/>
                  </a:lnTo>
                  <a:lnTo>
                    <a:pt x="872363" y="6934"/>
                  </a:lnTo>
                  <a:lnTo>
                    <a:pt x="871385" y="4521"/>
                  </a:lnTo>
                  <a:lnTo>
                    <a:pt x="867879" y="1016"/>
                  </a:lnTo>
                  <a:lnTo>
                    <a:pt x="865441" y="0"/>
                  </a:lnTo>
                  <a:lnTo>
                    <a:pt x="853528" y="0"/>
                  </a:lnTo>
                  <a:lnTo>
                    <a:pt x="853528" y="18821"/>
                  </a:lnTo>
                  <a:lnTo>
                    <a:pt x="853528" y="51384"/>
                  </a:lnTo>
                  <a:lnTo>
                    <a:pt x="853528" y="70205"/>
                  </a:lnTo>
                  <a:lnTo>
                    <a:pt x="853528" y="76631"/>
                  </a:lnTo>
                  <a:lnTo>
                    <a:pt x="851941" y="80137"/>
                  </a:lnTo>
                  <a:lnTo>
                    <a:pt x="849350" y="82778"/>
                  </a:lnTo>
                  <a:lnTo>
                    <a:pt x="846747" y="85369"/>
                  </a:lnTo>
                  <a:lnTo>
                    <a:pt x="843216" y="86944"/>
                  </a:lnTo>
                  <a:lnTo>
                    <a:pt x="29146" y="86944"/>
                  </a:lnTo>
                  <a:lnTo>
                    <a:pt x="25603" y="85369"/>
                  </a:lnTo>
                  <a:lnTo>
                    <a:pt x="23012" y="82778"/>
                  </a:lnTo>
                  <a:lnTo>
                    <a:pt x="20408" y="80137"/>
                  </a:lnTo>
                  <a:lnTo>
                    <a:pt x="18796" y="76631"/>
                  </a:lnTo>
                  <a:lnTo>
                    <a:pt x="18796" y="70205"/>
                  </a:lnTo>
                  <a:lnTo>
                    <a:pt x="853528" y="70205"/>
                  </a:lnTo>
                  <a:lnTo>
                    <a:pt x="853528" y="51384"/>
                  </a:lnTo>
                  <a:lnTo>
                    <a:pt x="18796" y="51384"/>
                  </a:lnTo>
                  <a:lnTo>
                    <a:pt x="18796" y="18821"/>
                  </a:lnTo>
                  <a:lnTo>
                    <a:pt x="853528" y="18821"/>
                  </a:lnTo>
                  <a:lnTo>
                    <a:pt x="853528" y="0"/>
                  </a:lnTo>
                  <a:lnTo>
                    <a:pt x="9423" y="0"/>
                  </a:lnTo>
                  <a:lnTo>
                    <a:pt x="9423" y="9410"/>
                  </a:lnTo>
                  <a:lnTo>
                    <a:pt x="9423" y="18821"/>
                  </a:lnTo>
                  <a:lnTo>
                    <a:pt x="9410" y="9410"/>
                  </a:lnTo>
                  <a:lnTo>
                    <a:pt x="9423" y="0"/>
                  </a:lnTo>
                  <a:lnTo>
                    <a:pt x="6934" y="0"/>
                  </a:lnTo>
                  <a:lnTo>
                    <a:pt x="4508" y="1016"/>
                  </a:lnTo>
                  <a:lnTo>
                    <a:pt x="2755" y="2755"/>
                  </a:lnTo>
                  <a:lnTo>
                    <a:pt x="1016" y="4521"/>
                  </a:lnTo>
                  <a:lnTo>
                    <a:pt x="12" y="6934"/>
                  </a:lnTo>
                  <a:lnTo>
                    <a:pt x="12" y="55587"/>
                  </a:lnTo>
                  <a:lnTo>
                    <a:pt x="0" y="65989"/>
                  </a:lnTo>
                  <a:lnTo>
                    <a:pt x="12" y="81749"/>
                  </a:lnTo>
                  <a:lnTo>
                    <a:pt x="3733" y="90106"/>
                  </a:lnTo>
                  <a:lnTo>
                    <a:pt x="15684" y="102044"/>
                  </a:lnTo>
                  <a:lnTo>
                    <a:pt x="24003" y="105803"/>
                  </a:lnTo>
                  <a:lnTo>
                    <a:pt x="848385" y="105803"/>
                  </a:lnTo>
                  <a:lnTo>
                    <a:pt x="856703" y="102044"/>
                  </a:lnTo>
                  <a:lnTo>
                    <a:pt x="868680" y="90106"/>
                  </a:lnTo>
                  <a:lnTo>
                    <a:pt x="870089" y="86944"/>
                  </a:lnTo>
                  <a:lnTo>
                    <a:pt x="872401" y="81749"/>
                  </a:lnTo>
                  <a:close/>
                </a:path>
              </a:pathLst>
            </a:custGeom>
            <a:solidFill>
              <a:srgbClr val="FBF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409131" y="4692122"/>
              <a:ext cx="365760" cy="102235"/>
            </a:xfrm>
            <a:custGeom>
              <a:avLst/>
              <a:gdLst/>
              <a:ahLst/>
              <a:cxnLst/>
              <a:rect l="l" t="t" r="r" b="b"/>
              <a:pathLst>
                <a:path w="365759" h="102235">
                  <a:moveTo>
                    <a:pt x="121123" y="102078"/>
                  </a:moveTo>
                  <a:lnTo>
                    <a:pt x="0" y="49270"/>
                  </a:lnTo>
                  <a:lnTo>
                    <a:pt x="365253" y="37677"/>
                  </a:lnTo>
                  <a:lnTo>
                    <a:pt x="244430" y="0"/>
                  </a:lnTo>
                  <a:lnTo>
                    <a:pt x="121123" y="102078"/>
                  </a:lnTo>
                  <a:close/>
                </a:path>
              </a:pathLst>
            </a:custGeom>
            <a:solidFill>
              <a:srgbClr val="4654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310805" y="4682235"/>
              <a:ext cx="556895" cy="308610"/>
            </a:xfrm>
            <a:custGeom>
              <a:avLst/>
              <a:gdLst/>
              <a:ahLst/>
              <a:cxnLst/>
              <a:rect l="l" t="t" r="r" b="b"/>
              <a:pathLst>
                <a:path w="556894" h="308610">
                  <a:moveTo>
                    <a:pt x="474116" y="45389"/>
                  </a:moveTo>
                  <a:lnTo>
                    <a:pt x="471322" y="40119"/>
                  </a:lnTo>
                  <a:lnTo>
                    <a:pt x="342519" y="0"/>
                  </a:lnTo>
                  <a:lnTo>
                    <a:pt x="339217" y="635"/>
                  </a:lnTo>
                  <a:lnTo>
                    <a:pt x="217906" y="101015"/>
                  </a:lnTo>
                  <a:lnTo>
                    <a:pt x="97307" y="48475"/>
                  </a:lnTo>
                  <a:lnTo>
                    <a:pt x="91770" y="50660"/>
                  </a:lnTo>
                  <a:lnTo>
                    <a:pt x="87630" y="60185"/>
                  </a:lnTo>
                  <a:lnTo>
                    <a:pt x="89814" y="65709"/>
                  </a:lnTo>
                  <a:lnTo>
                    <a:pt x="94551" y="67779"/>
                  </a:lnTo>
                  <a:lnTo>
                    <a:pt x="218922" y="121983"/>
                  </a:lnTo>
                  <a:lnTo>
                    <a:pt x="222719" y="121462"/>
                  </a:lnTo>
                  <a:lnTo>
                    <a:pt x="344817" y="20434"/>
                  </a:lnTo>
                  <a:lnTo>
                    <a:pt x="465721" y="58077"/>
                  </a:lnTo>
                  <a:lnTo>
                    <a:pt x="471030" y="55321"/>
                  </a:lnTo>
                  <a:lnTo>
                    <a:pt x="474116" y="45389"/>
                  </a:lnTo>
                  <a:close/>
                </a:path>
                <a:path w="556894" h="308610">
                  <a:moveTo>
                    <a:pt x="556653" y="293662"/>
                  </a:moveTo>
                  <a:lnTo>
                    <a:pt x="552437" y="289407"/>
                  </a:lnTo>
                  <a:lnTo>
                    <a:pt x="4178" y="289407"/>
                  </a:lnTo>
                  <a:lnTo>
                    <a:pt x="0" y="293662"/>
                  </a:lnTo>
                  <a:lnTo>
                    <a:pt x="0" y="304050"/>
                  </a:lnTo>
                  <a:lnTo>
                    <a:pt x="4178" y="308229"/>
                  </a:lnTo>
                  <a:lnTo>
                    <a:pt x="9410" y="308229"/>
                  </a:lnTo>
                  <a:lnTo>
                    <a:pt x="552437" y="308229"/>
                  </a:lnTo>
                  <a:lnTo>
                    <a:pt x="556653" y="304050"/>
                  </a:lnTo>
                  <a:lnTo>
                    <a:pt x="556653" y="293662"/>
                  </a:lnTo>
                  <a:close/>
                </a:path>
              </a:pathLst>
            </a:custGeom>
            <a:solidFill>
              <a:srgbClr val="FBFD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47967" y="4660882"/>
              <a:ext cx="482311" cy="329570"/>
            </a:xfrm>
            <a:prstGeom prst="rect">
              <a:avLst/>
            </a:prstGeom>
          </p:spPr>
        </p:pic>
      </p:grpSp>
      <p:sp>
        <p:nvSpPr>
          <p:cNvPr id="20" name="object 20" descr=""/>
          <p:cNvSpPr/>
          <p:nvPr/>
        </p:nvSpPr>
        <p:spPr>
          <a:xfrm>
            <a:off x="866881" y="2504320"/>
            <a:ext cx="16554450" cy="0"/>
          </a:xfrm>
          <a:custGeom>
            <a:avLst/>
            <a:gdLst/>
            <a:ahLst/>
            <a:cxnLst/>
            <a:rect l="l" t="t" r="r" b="b"/>
            <a:pathLst>
              <a:path w="16554450" h="0">
                <a:moveTo>
                  <a:pt x="0" y="0"/>
                </a:moveTo>
                <a:lnTo>
                  <a:pt x="1655425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3950" y="7018614"/>
            <a:ext cx="76200" cy="762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3950" y="8104464"/>
            <a:ext cx="76200" cy="76200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968391" y="6121426"/>
            <a:ext cx="3787140" cy="288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2620">
              <a:lnSpc>
                <a:spcPct val="100000"/>
              </a:lnSpc>
              <a:spcBef>
                <a:spcPts val="100"/>
              </a:spcBef>
            </a:pPr>
            <a:r>
              <a:rPr dirty="0" sz="2500" spc="-210" b="1">
                <a:solidFill>
                  <a:srgbClr val="46546F"/>
                </a:solidFill>
                <a:latin typeface="Malgun Gothic"/>
                <a:cs typeface="Malgun Gothic"/>
              </a:rPr>
              <a:t>협업과</a:t>
            </a:r>
            <a:r>
              <a:rPr dirty="0" sz="2500" spc="-160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500" spc="-25" b="1">
                <a:solidFill>
                  <a:srgbClr val="46546F"/>
                </a:solidFill>
                <a:latin typeface="Malgun Gothic"/>
                <a:cs typeface="Malgun Gothic"/>
              </a:rPr>
              <a:t>리더십</a:t>
            </a:r>
            <a:endParaRPr sz="2500">
              <a:latin typeface="Malgun Gothic"/>
              <a:cs typeface="Malgun Gothic"/>
            </a:endParaRPr>
          </a:p>
          <a:p>
            <a:pPr marL="12700" marR="5080">
              <a:lnSpc>
                <a:spcPct val="118800"/>
              </a:lnSpc>
              <a:spcBef>
                <a:spcPts val="2410"/>
              </a:spcBef>
            </a:pP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팀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프로젝트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리딩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55">
                <a:solidFill>
                  <a:srgbClr val="46546F"/>
                </a:solidFill>
                <a:latin typeface="Malgun Gothic"/>
                <a:cs typeface="Malgun Gothic"/>
              </a:rPr>
              <a:t>경험</a:t>
            </a:r>
            <a:r>
              <a:rPr dirty="0" sz="1800" spc="-355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1800" spc="-1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다수의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팀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프로젝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트에서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리더를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맡아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목표를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설정하고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409">
                <a:solidFill>
                  <a:srgbClr val="46546F"/>
                </a:solidFill>
                <a:latin typeface="Malgun Gothic"/>
                <a:cs typeface="Malgun Gothic"/>
              </a:rPr>
              <a:t>소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통을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주도</a:t>
            </a:r>
            <a:endParaRPr sz="2000">
              <a:latin typeface="Malgun Gothic"/>
              <a:cs typeface="Malgun Gothic"/>
            </a:endParaRPr>
          </a:p>
          <a:p>
            <a:pPr algn="just" marL="12700" marR="60960">
              <a:lnSpc>
                <a:spcPct val="118700"/>
              </a:lnSpc>
              <a:spcBef>
                <a:spcPts val="5"/>
              </a:spcBef>
            </a:pPr>
            <a:r>
              <a:rPr dirty="0" sz="2000" spc="-585">
                <a:solidFill>
                  <a:srgbClr val="46546F"/>
                </a:solidFill>
                <a:latin typeface="Malgun Gothic"/>
                <a:cs typeface="Malgun Gothic"/>
              </a:rPr>
              <a:t>유연한</a:t>
            </a:r>
            <a:r>
              <a:rPr dirty="0" sz="2000" spc="409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430">
                <a:solidFill>
                  <a:srgbClr val="46546F"/>
                </a:solidFill>
                <a:latin typeface="Malgun Gothic"/>
                <a:cs typeface="Malgun Gothic"/>
              </a:rPr>
              <a:t>커뮤니케이션</a:t>
            </a:r>
            <a:r>
              <a:rPr dirty="0" sz="1800" spc="-430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1800" spc="32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815">
                <a:solidFill>
                  <a:srgbClr val="46546F"/>
                </a:solidFill>
                <a:latin typeface="Malgun Gothic"/>
                <a:cs typeface="Malgun Gothic"/>
              </a:rPr>
              <a:t>팀원</a:t>
            </a:r>
            <a:r>
              <a:rPr dirty="0" sz="2000" spc="-30">
                <a:solidFill>
                  <a:srgbClr val="46546F"/>
                </a:solidFill>
                <a:latin typeface="Malgun Gothic"/>
                <a:cs typeface="Malgun Gothic"/>
              </a:rPr>
              <a:t>  </a:t>
            </a:r>
            <a:r>
              <a:rPr dirty="0" sz="2000" spc="-815">
                <a:solidFill>
                  <a:srgbClr val="46546F"/>
                </a:solidFill>
                <a:latin typeface="Malgun Gothic"/>
                <a:cs typeface="Malgun Gothic"/>
              </a:rPr>
              <a:t>간의</a:t>
            </a:r>
            <a:r>
              <a:rPr dirty="0" sz="2000" spc="-30">
                <a:solidFill>
                  <a:srgbClr val="46546F"/>
                </a:solidFill>
                <a:latin typeface="Malgun Gothic"/>
                <a:cs typeface="Malgun Gothic"/>
              </a:rPr>
              <a:t>  </a:t>
            </a:r>
            <a:r>
              <a:rPr dirty="0" sz="2000" spc="-815">
                <a:solidFill>
                  <a:srgbClr val="46546F"/>
                </a:solidFill>
                <a:latin typeface="Malgun Gothic"/>
                <a:cs typeface="Malgun Gothic"/>
              </a:rPr>
              <a:t>의견</a:t>
            </a:r>
            <a:r>
              <a:rPr dirty="0" sz="2000" spc="-30">
                <a:solidFill>
                  <a:srgbClr val="46546F"/>
                </a:solidFill>
                <a:latin typeface="Malgun Gothic"/>
                <a:cs typeface="Malgun Gothic"/>
              </a:rPr>
              <a:t>  </a:t>
            </a:r>
            <a:r>
              <a:rPr dirty="0" sz="2000" spc="-409">
                <a:solidFill>
                  <a:srgbClr val="46546F"/>
                </a:solidFill>
                <a:latin typeface="Malgun Gothic"/>
                <a:cs typeface="Malgun Gothic"/>
              </a:rPr>
              <a:t>조 </a:t>
            </a:r>
            <a:r>
              <a:rPr dirty="0" sz="2000" spc="-815">
                <a:solidFill>
                  <a:srgbClr val="46546F"/>
                </a:solidFill>
                <a:latin typeface="Malgun Gothic"/>
                <a:cs typeface="Malgun Gothic"/>
              </a:rPr>
              <a:t>율과</a:t>
            </a:r>
            <a:r>
              <a:rPr dirty="0" sz="2000" spc="-40">
                <a:solidFill>
                  <a:srgbClr val="46546F"/>
                </a:solidFill>
                <a:latin typeface="Malgun Gothic"/>
                <a:cs typeface="Malgun Gothic"/>
              </a:rPr>
              <a:t>  </a:t>
            </a:r>
            <a:r>
              <a:rPr dirty="0" sz="2000" spc="-585">
                <a:solidFill>
                  <a:srgbClr val="46546F"/>
                </a:solidFill>
                <a:latin typeface="Malgun Gothic"/>
                <a:cs typeface="Malgun Gothic"/>
              </a:rPr>
              <a:t>격려를</a:t>
            </a:r>
            <a:r>
              <a:rPr dirty="0" sz="2000" spc="409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815">
                <a:solidFill>
                  <a:srgbClr val="46546F"/>
                </a:solidFill>
                <a:latin typeface="Malgun Gothic"/>
                <a:cs typeface="Malgun Gothic"/>
              </a:rPr>
              <a:t>통해</a:t>
            </a:r>
            <a:r>
              <a:rPr dirty="0" sz="2000" spc="-30">
                <a:solidFill>
                  <a:srgbClr val="46546F"/>
                </a:solidFill>
                <a:latin typeface="Malgun Gothic"/>
                <a:cs typeface="Malgun Gothic"/>
              </a:rPr>
              <a:t>  </a:t>
            </a:r>
            <a:r>
              <a:rPr dirty="0" sz="2000" spc="-509">
                <a:solidFill>
                  <a:srgbClr val="46546F"/>
                </a:solidFill>
                <a:latin typeface="Malgun Gothic"/>
                <a:cs typeface="Malgun Gothic"/>
              </a:rPr>
              <a:t>협력하는</a:t>
            </a:r>
            <a:r>
              <a:rPr dirty="0" sz="2000" spc="33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585">
                <a:solidFill>
                  <a:srgbClr val="46546F"/>
                </a:solidFill>
                <a:latin typeface="Malgun Gothic"/>
                <a:cs typeface="Malgun Gothic"/>
              </a:rPr>
              <a:t>분위기</a:t>
            </a:r>
            <a:r>
              <a:rPr dirty="0" sz="2000" spc="42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조성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공동의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목표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달성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기여</a:t>
            </a:r>
            <a:endParaRPr sz="2000">
              <a:latin typeface="Malgun Gothic"/>
              <a:cs typeface="Malgun Gothic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3183" y="6913244"/>
            <a:ext cx="76200" cy="7620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3183" y="7999094"/>
            <a:ext cx="76200" cy="76200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7417623" y="6121426"/>
            <a:ext cx="3825240" cy="2780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1230">
              <a:lnSpc>
                <a:spcPct val="100000"/>
              </a:lnSpc>
              <a:spcBef>
                <a:spcPts val="100"/>
              </a:spcBef>
            </a:pPr>
            <a:r>
              <a:rPr dirty="0" sz="2500" spc="-210" b="1">
                <a:solidFill>
                  <a:srgbClr val="46546F"/>
                </a:solidFill>
                <a:latin typeface="Malgun Gothic"/>
                <a:cs typeface="Malgun Gothic"/>
              </a:rPr>
              <a:t>도전과</a:t>
            </a:r>
            <a:r>
              <a:rPr dirty="0" sz="2500" spc="-160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500" spc="-25" b="1">
                <a:solidFill>
                  <a:srgbClr val="46546F"/>
                </a:solidFill>
                <a:latin typeface="Malgun Gothic"/>
                <a:cs typeface="Malgun Gothic"/>
              </a:rPr>
              <a:t>성장</a:t>
            </a:r>
            <a:endParaRPr sz="2500">
              <a:latin typeface="Malgun Gothic"/>
              <a:cs typeface="Malgun Gothic"/>
            </a:endParaRPr>
          </a:p>
          <a:p>
            <a:pPr marL="12700" marR="118110">
              <a:lnSpc>
                <a:spcPct val="118800"/>
              </a:lnSpc>
              <a:spcBef>
                <a:spcPts val="1580"/>
              </a:spcBef>
            </a:pP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새로운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시도에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대한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능동적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55">
                <a:solidFill>
                  <a:srgbClr val="46546F"/>
                </a:solidFill>
                <a:latin typeface="Malgun Gothic"/>
                <a:cs typeface="Malgun Gothic"/>
              </a:rPr>
              <a:t>태도</a:t>
            </a:r>
            <a:r>
              <a:rPr dirty="0" sz="1800" spc="-355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1800" spc="-1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1800" spc="-290">
                <a:solidFill>
                  <a:srgbClr val="46546F"/>
                </a:solidFill>
                <a:latin typeface="Verdana"/>
                <a:cs typeface="Verdana"/>
              </a:rPr>
              <a:t>"</a:t>
            </a:r>
            <a:r>
              <a:rPr dirty="0" sz="2000" spc="-290">
                <a:solidFill>
                  <a:srgbClr val="46546F"/>
                </a:solidFill>
                <a:latin typeface="Malgun Gothic"/>
                <a:cs typeface="Malgun Gothic"/>
              </a:rPr>
              <a:t>도전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없이는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성장도</a:t>
            </a:r>
            <a:r>
              <a:rPr dirty="0" sz="2000" spc="-26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290">
                <a:solidFill>
                  <a:srgbClr val="46546F"/>
                </a:solidFill>
                <a:latin typeface="Malgun Gothic"/>
                <a:cs typeface="Malgun Gothic"/>
              </a:rPr>
              <a:t>없다</a:t>
            </a:r>
            <a:r>
              <a:rPr dirty="0" sz="1800" spc="-290">
                <a:solidFill>
                  <a:srgbClr val="46546F"/>
                </a:solidFill>
                <a:latin typeface="Verdana"/>
                <a:cs typeface="Verdana"/>
              </a:rPr>
              <a:t>"</a:t>
            </a:r>
            <a:r>
              <a:rPr dirty="0" sz="2000" spc="-290">
                <a:solidFill>
                  <a:srgbClr val="46546F"/>
                </a:solidFill>
                <a:latin typeface="Malgun Gothic"/>
                <a:cs typeface="Malgun Gothic"/>
              </a:rPr>
              <a:t>는</a:t>
            </a:r>
            <a:r>
              <a:rPr dirty="0" sz="2000" spc="-26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신념으로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교내외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공모전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프로젝트에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적극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참여</a:t>
            </a:r>
            <a:endParaRPr sz="2000">
              <a:latin typeface="Malgun Gothic"/>
              <a:cs typeface="Malgun Gothic"/>
            </a:endParaRPr>
          </a:p>
          <a:p>
            <a:pPr marL="12700" marR="5080">
              <a:lnSpc>
                <a:spcPts val="2850"/>
              </a:lnSpc>
              <a:spcBef>
                <a:spcPts val="110"/>
              </a:spcBef>
            </a:pP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끈기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있는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55">
                <a:solidFill>
                  <a:srgbClr val="46546F"/>
                </a:solidFill>
                <a:latin typeface="Malgun Gothic"/>
                <a:cs typeface="Malgun Gothic"/>
              </a:rPr>
              <a:t>완수</a:t>
            </a:r>
            <a:r>
              <a:rPr dirty="0" sz="1800" spc="-355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1800" spc="-1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시작한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프로젝트는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끝까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지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책임지고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성실하게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마무리하는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실행력 보유</a:t>
            </a:r>
            <a:endParaRPr sz="2000">
              <a:latin typeface="Malgun Gothic"/>
              <a:cs typeface="Malgun Gothic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64343" y="7018614"/>
            <a:ext cx="76200" cy="7620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64343" y="7742514"/>
            <a:ext cx="76200" cy="76200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12768784" y="6121426"/>
            <a:ext cx="3997325" cy="252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5844">
              <a:lnSpc>
                <a:spcPct val="100000"/>
              </a:lnSpc>
              <a:spcBef>
                <a:spcPts val="100"/>
              </a:spcBef>
            </a:pPr>
            <a:r>
              <a:rPr dirty="0" sz="2500" spc="-210" b="1">
                <a:solidFill>
                  <a:srgbClr val="46546F"/>
                </a:solidFill>
                <a:latin typeface="Malgun Gothic"/>
                <a:cs typeface="Malgun Gothic"/>
              </a:rPr>
              <a:t>소통과</a:t>
            </a:r>
            <a:r>
              <a:rPr dirty="0" sz="2500" spc="-160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500" spc="-25" b="1">
                <a:solidFill>
                  <a:srgbClr val="46546F"/>
                </a:solidFill>
                <a:latin typeface="Malgun Gothic"/>
                <a:cs typeface="Malgun Gothic"/>
              </a:rPr>
              <a:t>태도</a:t>
            </a:r>
            <a:endParaRPr sz="2500">
              <a:latin typeface="Malgun Gothic"/>
              <a:cs typeface="Malgun Gothic"/>
            </a:endParaRPr>
          </a:p>
          <a:p>
            <a:pPr marL="12700" marR="5080">
              <a:lnSpc>
                <a:spcPct val="118800"/>
              </a:lnSpc>
              <a:spcBef>
                <a:spcPts val="2410"/>
              </a:spcBef>
            </a:pP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신뢰를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주는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55">
                <a:solidFill>
                  <a:srgbClr val="46546F"/>
                </a:solidFill>
                <a:latin typeface="Malgun Gothic"/>
                <a:cs typeface="Malgun Gothic"/>
              </a:rPr>
              <a:t>태도</a:t>
            </a:r>
            <a:r>
              <a:rPr dirty="0" sz="1800" spc="-355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1800" spc="-1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예의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바른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태도와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인사성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바탕으로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팀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내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긍정적인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분위기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형성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대인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관계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55">
                <a:solidFill>
                  <a:srgbClr val="46546F"/>
                </a:solidFill>
                <a:latin typeface="Malgun Gothic"/>
                <a:cs typeface="Malgun Gothic"/>
              </a:rPr>
              <a:t>능력</a:t>
            </a:r>
            <a:r>
              <a:rPr dirty="0" sz="1800" spc="-355">
                <a:solidFill>
                  <a:srgbClr val="46546F"/>
                </a:solidFill>
                <a:latin typeface="Verdana"/>
                <a:cs typeface="Verdana"/>
              </a:rPr>
              <a:t>:</a:t>
            </a:r>
            <a:r>
              <a:rPr dirty="0" sz="1800" spc="-1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봉사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홍보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활동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경험을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통해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처음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만나는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사람과도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원활하게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소통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하고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호감을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이끌어내는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역량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4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245" b="0">
                <a:latin typeface="Arial Black"/>
                <a:cs typeface="Arial Black"/>
              </a:rPr>
              <a:t>About</a:t>
            </a:r>
            <a:r>
              <a:rPr dirty="0" sz="5000" spc="-450" b="0">
                <a:latin typeface="Arial Black"/>
                <a:cs typeface="Arial Black"/>
              </a:rPr>
              <a:t> </a:t>
            </a:r>
            <a:r>
              <a:rPr dirty="0" sz="5000" spc="-320" b="0">
                <a:latin typeface="Arial Black"/>
                <a:cs typeface="Arial Black"/>
              </a:rPr>
              <a:t>Me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254749" y="852549"/>
            <a:ext cx="1454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60">
                <a:solidFill>
                  <a:srgbClr val="46546F"/>
                </a:solidFill>
                <a:latin typeface="Calibri"/>
                <a:cs typeface="Calibri"/>
              </a:rPr>
              <a:t>SOFT</a:t>
            </a:r>
            <a:r>
              <a:rPr dirty="0" sz="2000">
                <a:solidFill>
                  <a:srgbClr val="46546F"/>
                </a:solidFill>
                <a:latin typeface="Calibri"/>
                <a:cs typeface="Calibri"/>
              </a:rPr>
              <a:t> </a:t>
            </a:r>
            <a:r>
              <a:rPr dirty="0" sz="2000" spc="135">
                <a:solidFill>
                  <a:srgbClr val="46546F"/>
                </a:solidFill>
                <a:latin typeface="Calibri"/>
                <a:cs typeface="Calibri"/>
              </a:rPr>
              <a:t>SKILLS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4654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76314" y="6114853"/>
            <a:ext cx="5126355" cy="0"/>
          </a:xfrm>
          <a:custGeom>
            <a:avLst/>
            <a:gdLst/>
            <a:ahLst/>
            <a:cxnLst/>
            <a:rect l="l" t="t" r="r" b="b"/>
            <a:pathLst>
              <a:path w="5126355" h="0">
                <a:moveTo>
                  <a:pt x="0" y="0"/>
                </a:moveTo>
                <a:lnTo>
                  <a:pt x="5126097" y="0"/>
                </a:lnTo>
              </a:path>
            </a:pathLst>
          </a:custGeom>
          <a:ln w="19050">
            <a:solidFill>
              <a:srgbClr val="FBFD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776314" y="7141319"/>
            <a:ext cx="5126355" cy="0"/>
          </a:xfrm>
          <a:custGeom>
            <a:avLst/>
            <a:gdLst/>
            <a:ahLst/>
            <a:cxnLst/>
            <a:rect l="l" t="t" r="r" b="b"/>
            <a:pathLst>
              <a:path w="5126355" h="0">
                <a:moveTo>
                  <a:pt x="0" y="0"/>
                </a:moveTo>
                <a:lnTo>
                  <a:pt x="5126097" y="0"/>
                </a:lnTo>
              </a:path>
            </a:pathLst>
          </a:custGeom>
          <a:ln w="19050">
            <a:solidFill>
              <a:srgbClr val="FBFD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76314" y="8167784"/>
            <a:ext cx="5126355" cy="0"/>
          </a:xfrm>
          <a:custGeom>
            <a:avLst/>
            <a:gdLst/>
            <a:ahLst/>
            <a:cxnLst/>
            <a:rect l="l" t="t" r="r" b="b"/>
            <a:pathLst>
              <a:path w="5126355" h="0">
                <a:moveTo>
                  <a:pt x="0" y="0"/>
                </a:moveTo>
                <a:lnTo>
                  <a:pt x="5126097" y="0"/>
                </a:lnTo>
              </a:path>
            </a:pathLst>
          </a:custGeom>
          <a:ln w="19050">
            <a:solidFill>
              <a:srgbClr val="FBFD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012396" y="1408238"/>
            <a:ext cx="5512435" cy="14649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450" spc="540">
                <a:solidFill>
                  <a:srgbClr val="FBFDF7"/>
                </a:solidFill>
                <a:latin typeface="Calibri"/>
                <a:cs typeface="Calibri"/>
              </a:rPr>
              <a:t>PROJECTS</a:t>
            </a:r>
            <a:endParaRPr sz="94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54335" y="5302387"/>
            <a:ext cx="2571115" cy="36220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400" spc="-650">
                <a:solidFill>
                  <a:srgbClr val="FBFDF7"/>
                </a:solidFill>
                <a:latin typeface="Malgun Gothic"/>
                <a:cs typeface="Malgun Gothic"/>
              </a:rPr>
              <a:t>첫번째</a:t>
            </a:r>
            <a:r>
              <a:rPr dirty="0" sz="3400" spc="-465">
                <a:solidFill>
                  <a:srgbClr val="FBFDF7"/>
                </a:solidFill>
                <a:latin typeface="Malgun Gothic"/>
                <a:cs typeface="Malgun Gothic"/>
              </a:rPr>
              <a:t> </a:t>
            </a:r>
            <a:r>
              <a:rPr dirty="0" sz="3400" spc="-670">
                <a:solidFill>
                  <a:srgbClr val="FBFDF7"/>
                </a:solidFill>
                <a:latin typeface="Malgun Gothic"/>
                <a:cs typeface="Malgun Gothic"/>
              </a:rPr>
              <a:t>프로젝트</a:t>
            </a:r>
            <a:endParaRPr sz="3400">
              <a:latin typeface="Malgun Gothic"/>
              <a:cs typeface="Malgun Gothic"/>
            </a:endParaRPr>
          </a:p>
          <a:p>
            <a:pPr algn="just" marL="12700" marR="5080">
              <a:lnSpc>
                <a:spcPct val="198100"/>
              </a:lnSpc>
            </a:pPr>
            <a:r>
              <a:rPr dirty="0" sz="3400" spc="-1060">
                <a:solidFill>
                  <a:srgbClr val="FBFDF7"/>
                </a:solidFill>
                <a:latin typeface="Malgun Gothic"/>
                <a:cs typeface="Malgun Gothic"/>
              </a:rPr>
              <a:t>두번째</a:t>
            </a:r>
            <a:r>
              <a:rPr dirty="0" sz="3400" spc="765">
                <a:solidFill>
                  <a:srgbClr val="FBFDF7"/>
                </a:solidFill>
                <a:latin typeface="Malgun Gothic"/>
                <a:cs typeface="Malgun Gothic"/>
              </a:rPr>
              <a:t> </a:t>
            </a:r>
            <a:r>
              <a:rPr dirty="0" sz="3400" spc="-670">
                <a:solidFill>
                  <a:srgbClr val="FBFDF7"/>
                </a:solidFill>
                <a:latin typeface="Malgun Gothic"/>
                <a:cs typeface="Malgun Gothic"/>
              </a:rPr>
              <a:t>프로젝트 </a:t>
            </a:r>
            <a:r>
              <a:rPr dirty="0" sz="3400" spc="-1060">
                <a:solidFill>
                  <a:srgbClr val="FBFDF7"/>
                </a:solidFill>
                <a:latin typeface="Malgun Gothic"/>
                <a:cs typeface="Malgun Gothic"/>
              </a:rPr>
              <a:t>세번째</a:t>
            </a:r>
            <a:r>
              <a:rPr dirty="0" sz="3400" spc="765">
                <a:solidFill>
                  <a:srgbClr val="FBFDF7"/>
                </a:solidFill>
                <a:latin typeface="Malgun Gothic"/>
                <a:cs typeface="Malgun Gothic"/>
              </a:rPr>
              <a:t> </a:t>
            </a:r>
            <a:r>
              <a:rPr dirty="0" sz="3400" spc="-670">
                <a:solidFill>
                  <a:srgbClr val="FBFDF7"/>
                </a:solidFill>
                <a:latin typeface="Malgun Gothic"/>
                <a:cs typeface="Malgun Gothic"/>
              </a:rPr>
              <a:t>프로젝트 </a:t>
            </a:r>
            <a:r>
              <a:rPr dirty="0" sz="3400" spc="-650">
                <a:solidFill>
                  <a:srgbClr val="FBFDF7"/>
                </a:solidFill>
                <a:latin typeface="Malgun Gothic"/>
                <a:cs typeface="Malgun Gothic"/>
              </a:rPr>
              <a:t>기타</a:t>
            </a:r>
            <a:r>
              <a:rPr dirty="0" sz="3400" spc="-470">
                <a:solidFill>
                  <a:srgbClr val="FBFDF7"/>
                </a:solidFill>
                <a:latin typeface="Malgun Gothic"/>
                <a:cs typeface="Malgun Gothic"/>
              </a:rPr>
              <a:t> </a:t>
            </a:r>
            <a:r>
              <a:rPr dirty="0" sz="3400" spc="-670">
                <a:solidFill>
                  <a:srgbClr val="FBFDF7"/>
                </a:solidFill>
                <a:latin typeface="Malgun Gothic"/>
                <a:cs typeface="Malgun Gothic"/>
              </a:rPr>
              <a:t>프로젝트</a:t>
            </a:r>
            <a:endParaRPr sz="3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0" y="0"/>
            <a:ext cx="9144000" cy="9281160"/>
            <a:chOff x="9144000" y="0"/>
            <a:chExt cx="9144000" cy="92811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4337425"/>
              <a:ext cx="8334359" cy="494345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92516" y="0"/>
              <a:ext cx="5495482" cy="5148132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749" y="3938777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1749" y="4338827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1749" y="4738877"/>
            <a:ext cx="85725" cy="857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80"/>
              <a:t>오늘도</a:t>
            </a:r>
            <a:r>
              <a:rPr dirty="0" spc="-800"/>
              <a:t> </a:t>
            </a:r>
            <a:r>
              <a:rPr dirty="0" spc="-1080"/>
              <a:t>나는</a:t>
            </a:r>
            <a:r>
              <a:rPr dirty="0" spc="-800"/>
              <a:t> </a:t>
            </a:r>
            <a:r>
              <a:rPr dirty="0" spc="-1080"/>
              <a:t>쓰레기를</a:t>
            </a:r>
            <a:r>
              <a:rPr dirty="0" spc="-800"/>
              <a:t> </a:t>
            </a:r>
            <a:r>
              <a:rPr dirty="0" spc="-1080"/>
              <a:t>줍는다</a:t>
            </a:r>
            <a:r>
              <a:rPr dirty="0" spc="-805"/>
              <a:t> </a:t>
            </a:r>
            <a:r>
              <a:rPr dirty="0" sz="5000" spc="-300" b="0">
                <a:latin typeface="Arial Black"/>
                <a:cs typeface="Arial Black"/>
              </a:rPr>
              <a:t>(2025)</a:t>
            </a:r>
            <a:endParaRPr sz="5000">
              <a:latin typeface="Arial Black"/>
              <a:cs typeface="Arial Black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1749" y="5763676"/>
            <a:ext cx="85725" cy="857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749" y="6163726"/>
            <a:ext cx="85725" cy="8572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749" y="6563776"/>
            <a:ext cx="85725" cy="8572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749" y="6963826"/>
            <a:ext cx="85725" cy="8572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1749" y="8141055"/>
            <a:ext cx="85725" cy="857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15137" y="8536342"/>
            <a:ext cx="95250" cy="95250"/>
          </a:xfrm>
          <a:prstGeom prst="rect">
            <a:avLst/>
          </a:prstGeom>
        </p:spPr>
      </p:pic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85">
                <a:hlinkClick r:id="rId10"/>
              </a:rPr>
              <a:t>플레이</a:t>
            </a:r>
            <a:r>
              <a:rPr dirty="0" spc="-420">
                <a:hlinkClick r:id="rId10"/>
              </a:rPr>
              <a:t> </a:t>
            </a:r>
            <a:r>
              <a:rPr dirty="0" spc="-585">
                <a:hlinkClick r:id="rId10"/>
              </a:rPr>
              <a:t>영상</a:t>
            </a:r>
            <a:r>
              <a:rPr dirty="0" spc="-405">
                <a:hlinkClick r:id="rId10"/>
              </a:rPr>
              <a:t> </a:t>
            </a:r>
            <a:r>
              <a:rPr dirty="0" spc="-610">
                <a:hlinkClick r:id="rId10"/>
              </a:rPr>
              <a:t>링크</a:t>
            </a:r>
          </a:p>
          <a:p>
            <a:pPr marL="12700">
              <a:lnSpc>
                <a:spcPct val="100000"/>
              </a:lnSpc>
              <a:spcBef>
                <a:spcPts val="4450"/>
              </a:spcBef>
            </a:pPr>
            <a:r>
              <a:rPr dirty="0" u="none" sz="2000" spc="-365">
                <a:latin typeface="Verdana"/>
                <a:cs typeface="Verdana"/>
              </a:rPr>
              <a:t>[</a:t>
            </a:r>
            <a:r>
              <a:rPr dirty="0" u="none" sz="2250" spc="-365"/>
              <a:t>담당</a:t>
            </a:r>
            <a:r>
              <a:rPr dirty="0" u="none" sz="2250" spc="-305"/>
              <a:t> </a:t>
            </a:r>
            <a:r>
              <a:rPr dirty="0" u="none" sz="2250" spc="-390"/>
              <a:t>역할</a:t>
            </a:r>
            <a:r>
              <a:rPr dirty="0" u="none" sz="2000" spc="-390"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 marR="3596640">
              <a:lnSpc>
                <a:spcPct val="116700"/>
              </a:lnSpc>
            </a:pPr>
            <a:r>
              <a:rPr dirty="0" u="none" sz="2250" spc="-430"/>
              <a:t>기획</a:t>
            </a:r>
            <a:r>
              <a:rPr dirty="0" u="none" sz="2250" spc="-295"/>
              <a:t> </a:t>
            </a:r>
            <a:r>
              <a:rPr dirty="0" u="none" sz="2250" spc="-430"/>
              <a:t>및</a:t>
            </a:r>
            <a:r>
              <a:rPr dirty="0" u="none" sz="2250" spc="-300"/>
              <a:t> </a:t>
            </a:r>
            <a:r>
              <a:rPr dirty="0" u="none" sz="2000" spc="-130">
                <a:latin typeface="Verdana"/>
                <a:cs typeface="Verdana"/>
              </a:rPr>
              <a:t>UI</a:t>
            </a:r>
            <a:r>
              <a:rPr dirty="0" u="none" sz="2000" spc="-210">
                <a:latin typeface="Verdana"/>
                <a:cs typeface="Verdana"/>
              </a:rPr>
              <a:t> </a:t>
            </a:r>
            <a:r>
              <a:rPr dirty="0" u="none" sz="2250" spc="-434"/>
              <a:t>프레임워크</a:t>
            </a:r>
            <a:r>
              <a:rPr dirty="0" u="none" sz="2250" spc="-295"/>
              <a:t> </a:t>
            </a:r>
            <a:r>
              <a:rPr dirty="0" u="none" sz="2250" spc="-455"/>
              <a:t>제작 </a:t>
            </a:r>
            <a:r>
              <a:rPr dirty="0" u="none" sz="2250" spc="-434"/>
              <a:t>플레이어</a:t>
            </a:r>
            <a:r>
              <a:rPr dirty="0" u="none" sz="2250" spc="-305"/>
              <a:t> </a:t>
            </a:r>
            <a:r>
              <a:rPr dirty="0" u="none" sz="2250" spc="-355"/>
              <a:t>이동</a:t>
            </a:r>
            <a:r>
              <a:rPr dirty="0" u="none" sz="2000" spc="-355">
                <a:latin typeface="Verdana"/>
                <a:cs typeface="Verdana"/>
              </a:rPr>
              <a:t>,</a:t>
            </a:r>
            <a:r>
              <a:rPr dirty="0" u="none" sz="2000" spc="-204">
                <a:latin typeface="Verdana"/>
                <a:cs typeface="Verdana"/>
              </a:rPr>
              <a:t> </a:t>
            </a:r>
            <a:r>
              <a:rPr dirty="0" u="none" sz="2250" spc="-434"/>
              <a:t>상호작용</a:t>
            </a:r>
            <a:r>
              <a:rPr dirty="0" u="none" sz="2250" spc="-290"/>
              <a:t> </a:t>
            </a:r>
            <a:r>
              <a:rPr dirty="0" u="none" sz="2250" spc="-455"/>
              <a:t>개발 </a:t>
            </a:r>
            <a:r>
              <a:rPr dirty="0" u="none" sz="2250" spc="-434"/>
              <a:t>인벤토리</a:t>
            </a:r>
            <a:r>
              <a:rPr dirty="0" u="none" sz="2250" spc="-310"/>
              <a:t> </a:t>
            </a:r>
            <a:r>
              <a:rPr dirty="0" u="none" sz="2250" spc="-430"/>
              <a:t>및</a:t>
            </a:r>
            <a:r>
              <a:rPr dirty="0" u="none" sz="2250" spc="-300"/>
              <a:t> </a:t>
            </a:r>
            <a:r>
              <a:rPr dirty="0" u="none" sz="2250" spc="-430"/>
              <a:t>장비</a:t>
            </a:r>
            <a:r>
              <a:rPr dirty="0" u="none" sz="2250" spc="-295"/>
              <a:t> </a:t>
            </a:r>
            <a:r>
              <a:rPr dirty="0" u="none" sz="2250" spc="-430"/>
              <a:t>제작</a:t>
            </a:r>
            <a:r>
              <a:rPr dirty="0" u="none" sz="2250" spc="-300"/>
              <a:t> </a:t>
            </a:r>
            <a:r>
              <a:rPr dirty="0" u="none" sz="2250" spc="-434"/>
              <a:t>시스템</a:t>
            </a:r>
            <a:r>
              <a:rPr dirty="0" u="none" sz="2250" spc="-300"/>
              <a:t> </a:t>
            </a:r>
            <a:r>
              <a:rPr dirty="0" u="none" sz="2250" spc="-455"/>
              <a:t>개발</a:t>
            </a:r>
            <a:endParaRPr sz="2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dirty="0" u="none" sz="2000" spc="-365">
                <a:latin typeface="Verdana"/>
                <a:cs typeface="Verdana"/>
              </a:rPr>
              <a:t>[</a:t>
            </a:r>
            <a:r>
              <a:rPr dirty="0" u="none" sz="2250" spc="-365"/>
              <a:t>핵심</a:t>
            </a:r>
            <a:r>
              <a:rPr dirty="0" u="none" sz="2250" spc="-305"/>
              <a:t> </a:t>
            </a:r>
            <a:r>
              <a:rPr dirty="0" u="none" sz="2250" spc="-390"/>
              <a:t>기능</a:t>
            </a:r>
            <a:r>
              <a:rPr dirty="0" u="none" sz="2000" spc="-390"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 marR="1775460">
              <a:lnSpc>
                <a:spcPct val="116700"/>
              </a:lnSpc>
            </a:pPr>
            <a:r>
              <a:rPr dirty="0" u="none" sz="2000" spc="-25">
                <a:latin typeface="Verdana"/>
                <a:cs typeface="Verdana"/>
              </a:rPr>
              <a:t>Scriptable</a:t>
            </a:r>
            <a:r>
              <a:rPr dirty="0" u="none" sz="2000" spc="-204">
                <a:latin typeface="Verdana"/>
                <a:cs typeface="Verdana"/>
              </a:rPr>
              <a:t> </a:t>
            </a:r>
            <a:r>
              <a:rPr dirty="0" u="none" sz="2000" spc="-85">
                <a:latin typeface="Verdana"/>
                <a:cs typeface="Verdana"/>
              </a:rPr>
              <a:t>Object</a:t>
            </a:r>
            <a:r>
              <a:rPr dirty="0" u="none" sz="2250" spc="-85"/>
              <a:t>를</a:t>
            </a:r>
            <a:r>
              <a:rPr dirty="0" u="none" sz="2250" spc="-280"/>
              <a:t> </a:t>
            </a:r>
            <a:r>
              <a:rPr dirty="0" u="none" sz="2250" spc="-434"/>
              <a:t>기반으로</a:t>
            </a:r>
            <a:r>
              <a:rPr dirty="0" u="none" sz="2250" spc="-280"/>
              <a:t> </a:t>
            </a:r>
            <a:r>
              <a:rPr dirty="0" u="none" sz="2250" spc="-430"/>
              <a:t>한</a:t>
            </a:r>
            <a:r>
              <a:rPr dirty="0" u="none" sz="2250" spc="-280"/>
              <a:t> </a:t>
            </a:r>
            <a:r>
              <a:rPr dirty="0" u="none" sz="2250" spc="-430"/>
              <a:t>제작</a:t>
            </a:r>
            <a:r>
              <a:rPr dirty="0" u="none" sz="2250" spc="-280"/>
              <a:t> </a:t>
            </a:r>
            <a:r>
              <a:rPr dirty="0" u="none" sz="2250" spc="-459"/>
              <a:t>시스템 </a:t>
            </a:r>
            <a:r>
              <a:rPr dirty="0" u="none" sz="2000" spc="-25">
                <a:latin typeface="Verdana"/>
                <a:cs typeface="Verdana"/>
              </a:rPr>
              <a:t>Json,</a:t>
            </a:r>
            <a:r>
              <a:rPr dirty="0" u="none" sz="2000" spc="-180">
                <a:latin typeface="Verdana"/>
                <a:cs typeface="Verdana"/>
              </a:rPr>
              <a:t> </a:t>
            </a:r>
            <a:r>
              <a:rPr dirty="0" u="none" sz="2000" spc="-65">
                <a:latin typeface="Verdana"/>
                <a:cs typeface="Verdana"/>
              </a:rPr>
              <a:t>Playerprefs</a:t>
            </a:r>
            <a:r>
              <a:rPr dirty="0" u="none" sz="2250" spc="-65"/>
              <a:t>를</a:t>
            </a:r>
            <a:r>
              <a:rPr dirty="0" u="none" sz="2250" spc="-270"/>
              <a:t> </a:t>
            </a:r>
            <a:r>
              <a:rPr dirty="0" u="none" sz="2250" spc="-434"/>
              <a:t>활용한</a:t>
            </a:r>
            <a:r>
              <a:rPr dirty="0" u="none" sz="2250" spc="-265"/>
              <a:t> </a:t>
            </a:r>
            <a:r>
              <a:rPr dirty="0" u="none" sz="2250" spc="-434"/>
              <a:t>스테이지</a:t>
            </a:r>
            <a:r>
              <a:rPr dirty="0" u="none" sz="2250" spc="-270"/>
              <a:t> </a:t>
            </a:r>
            <a:r>
              <a:rPr dirty="0" u="none" sz="2250" spc="-430"/>
              <a:t>저장</a:t>
            </a:r>
            <a:r>
              <a:rPr dirty="0" u="none" sz="2250" spc="-270"/>
              <a:t> </a:t>
            </a:r>
            <a:r>
              <a:rPr dirty="0" u="none" sz="2250" spc="-459"/>
              <a:t>시스템 </a:t>
            </a:r>
            <a:r>
              <a:rPr dirty="0" u="none" sz="2000" spc="-40">
                <a:latin typeface="Verdana"/>
                <a:cs typeface="Verdana"/>
              </a:rPr>
              <a:t>Unity.Action</a:t>
            </a:r>
            <a:r>
              <a:rPr dirty="0" u="none" sz="2000" spc="-190">
                <a:latin typeface="Verdana"/>
                <a:cs typeface="Verdana"/>
              </a:rPr>
              <a:t> </a:t>
            </a:r>
            <a:r>
              <a:rPr dirty="0" u="none" sz="2250" spc="-434"/>
              <a:t>핸들러</a:t>
            </a:r>
            <a:r>
              <a:rPr dirty="0" u="none" sz="2250" spc="-275"/>
              <a:t> </a:t>
            </a:r>
            <a:r>
              <a:rPr dirty="0" u="none" sz="2250" spc="-434"/>
              <a:t>등록을</a:t>
            </a:r>
            <a:r>
              <a:rPr dirty="0" u="none" sz="2250" spc="-280"/>
              <a:t> </a:t>
            </a:r>
            <a:r>
              <a:rPr dirty="0" u="none" sz="2250" spc="-430"/>
              <a:t>통한</a:t>
            </a:r>
            <a:r>
              <a:rPr dirty="0" u="none" sz="2250" spc="-280"/>
              <a:t> </a:t>
            </a:r>
            <a:r>
              <a:rPr dirty="0" u="none" sz="2250" spc="-434"/>
              <a:t>이벤트</a:t>
            </a:r>
            <a:r>
              <a:rPr dirty="0" u="none" sz="2250" spc="-280"/>
              <a:t> </a:t>
            </a:r>
            <a:r>
              <a:rPr dirty="0" u="none" sz="2250" spc="-455"/>
              <a:t>할당 </a:t>
            </a:r>
            <a:r>
              <a:rPr dirty="0" u="none" sz="2000" spc="-25">
                <a:latin typeface="Verdana"/>
                <a:cs typeface="Verdana"/>
              </a:rPr>
              <a:t>Dictionary</a:t>
            </a:r>
            <a:r>
              <a:rPr dirty="0" u="none" sz="2000" spc="-210">
                <a:latin typeface="Verdana"/>
                <a:cs typeface="Verdana"/>
              </a:rPr>
              <a:t> </a:t>
            </a:r>
            <a:r>
              <a:rPr dirty="0" u="none" sz="2250" spc="-434"/>
              <a:t>구조로</a:t>
            </a:r>
            <a:r>
              <a:rPr dirty="0" u="none" sz="2250" spc="-280"/>
              <a:t> </a:t>
            </a:r>
            <a:r>
              <a:rPr dirty="0" u="none" sz="2250" spc="-434"/>
              <a:t>오브젝트</a:t>
            </a:r>
            <a:r>
              <a:rPr dirty="0" u="none" sz="2250" spc="-285"/>
              <a:t> </a:t>
            </a:r>
            <a:r>
              <a:rPr dirty="0" u="none" sz="2250" spc="-430"/>
              <a:t>관리</a:t>
            </a:r>
            <a:r>
              <a:rPr dirty="0" u="none" sz="2250" spc="-285"/>
              <a:t> </a:t>
            </a:r>
            <a:r>
              <a:rPr dirty="0" u="none" sz="2250" spc="-459"/>
              <a:t>구조화</a:t>
            </a:r>
            <a:endParaRPr sz="2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15"/>
              </a:spcBef>
            </a:pPr>
            <a:r>
              <a:rPr dirty="0" u="none" sz="2000" spc="-365">
                <a:latin typeface="Verdana"/>
                <a:cs typeface="Verdana"/>
              </a:rPr>
              <a:t>[</a:t>
            </a:r>
            <a:r>
              <a:rPr dirty="0" u="none" sz="2250" spc="-365"/>
              <a:t>문제</a:t>
            </a:r>
            <a:r>
              <a:rPr dirty="0" u="none" sz="2250" spc="-305"/>
              <a:t> </a:t>
            </a:r>
            <a:r>
              <a:rPr dirty="0" u="none" sz="2250" spc="-430"/>
              <a:t>해결</a:t>
            </a:r>
            <a:r>
              <a:rPr dirty="0" u="none" sz="2250" spc="-305"/>
              <a:t> </a:t>
            </a:r>
            <a:r>
              <a:rPr dirty="0" u="none" sz="2250" spc="-390"/>
              <a:t>경험</a:t>
            </a:r>
            <a:r>
              <a:rPr dirty="0" u="none" sz="2000" spc="-390"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>
              <a:lnSpc>
                <a:spcPct val="100000"/>
              </a:lnSpc>
              <a:spcBef>
                <a:spcPts val="450"/>
              </a:spcBef>
            </a:pPr>
            <a:r>
              <a:rPr dirty="0" u="none" sz="2000" spc="-10">
                <a:latin typeface="Verdana"/>
                <a:cs typeface="Verdana"/>
              </a:rPr>
              <a:t>List</a:t>
            </a:r>
            <a:r>
              <a:rPr dirty="0" u="none" sz="2000" spc="-220">
                <a:latin typeface="Verdana"/>
                <a:cs typeface="Verdana"/>
              </a:rPr>
              <a:t> </a:t>
            </a:r>
            <a:r>
              <a:rPr dirty="0" u="none" sz="2250" spc="-430"/>
              <a:t>기반</a:t>
            </a:r>
            <a:r>
              <a:rPr dirty="0" u="none" sz="2250" spc="-300"/>
              <a:t> </a:t>
            </a:r>
            <a:r>
              <a:rPr dirty="0" u="none" sz="2250" spc="-434"/>
              <a:t>인벤토리</a:t>
            </a:r>
            <a:r>
              <a:rPr dirty="0" u="none" sz="2250" spc="-300"/>
              <a:t> </a:t>
            </a:r>
            <a:r>
              <a:rPr dirty="0" u="none" sz="2250" spc="-430"/>
              <a:t>탐색</a:t>
            </a:r>
            <a:r>
              <a:rPr dirty="0" u="none" sz="2250" spc="-295"/>
              <a:t> </a:t>
            </a:r>
            <a:r>
              <a:rPr dirty="0" u="none" sz="2250" spc="-430"/>
              <a:t>및</a:t>
            </a:r>
            <a:r>
              <a:rPr dirty="0" u="none" sz="2250" spc="-300"/>
              <a:t> </a:t>
            </a:r>
            <a:r>
              <a:rPr dirty="0" u="none" sz="2250" spc="-430"/>
              <a:t>수량</a:t>
            </a:r>
            <a:r>
              <a:rPr dirty="0" u="none" sz="2250" spc="-300"/>
              <a:t> </a:t>
            </a:r>
            <a:r>
              <a:rPr dirty="0" u="none" sz="2250" spc="-434"/>
              <a:t>확인의</a:t>
            </a:r>
            <a:r>
              <a:rPr dirty="0" u="none" sz="2250" spc="-300"/>
              <a:t> </a:t>
            </a:r>
            <a:r>
              <a:rPr dirty="0" u="none" sz="2250" spc="-459"/>
              <a:t>비효율</a:t>
            </a:r>
            <a:endParaRPr sz="2250">
              <a:latin typeface="Verdana"/>
              <a:cs typeface="Verdana"/>
            </a:endParaRPr>
          </a:p>
          <a:p>
            <a:pPr marL="875665" marR="5080">
              <a:lnSpc>
                <a:spcPct val="116700"/>
              </a:lnSpc>
            </a:pPr>
            <a:r>
              <a:rPr dirty="0" u="none" sz="2000" spc="-25">
                <a:latin typeface="Verdana"/>
                <a:cs typeface="Verdana"/>
              </a:rPr>
              <a:t>Dictionary</a:t>
            </a:r>
            <a:r>
              <a:rPr dirty="0" u="none" sz="2000" spc="-175">
                <a:latin typeface="Verdana"/>
                <a:cs typeface="Verdana"/>
              </a:rPr>
              <a:t> </a:t>
            </a:r>
            <a:r>
              <a:rPr dirty="0" u="none" sz="2250" spc="-120"/>
              <a:t>자료구조</a:t>
            </a:r>
            <a:r>
              <a:rPr dirty="0" u="none" sz="2000" spc="-120">
                <a:latin typeface="Verdana"/>
                <a:cs typeface="Verdana"/>
              </a:rPr>
              <a:t>(ScriptableObject,</a:t>
            </a:r>
            <a:r>
              <a:rPr dirty="0" u="none" sz="2000" spc="-160">
                <a:latin typeface="Verdana"/>
                <a:cs typeface="Verdana"/>
              </a:rPr>
              <a:t> </a:t>
            </a:r>
            <a:r>
              <a:rPr dirty="0" u="none" sz="2000" spc="-150">
                <a:latin typeface="Verdana"/>
                <a:cs typeface="Verdana"/>
              </a:rPr>
              <a:t>int)</a:t>
            </a:r>
            <a:r>
              <a:rPr dirty="0" u="none" sz="2250" spc="-150"/>
              <a:t>로</a:t>
            </a:r>
            <a:r>
              <a:rPr dirty="0" u="none" sz="2250" spc="-250"/>
              <a:t> </a:t>
            </a:r>
            <a:r>
              <a:rPr dirty="0" u="none" sz="2250" spc="-434"/>
              <a:t>수정하여</a:t>
            </a:r>
            <a:r>
              <a:rPr dirty="0" u="none" sz="2250" spc="-245"/>
              <a:t> </a:t>
            </a:r>
            <a:r>
              <a:rPr dirty="0" u="none" sz="2250" spc="-465"/>
              <a:t>탐색 </a:t>
            </a:r>
            <a:r>
              <a:rPr dirty="0" u="none" sz="2250" spc="-430"/>
              <a:t>속도</a:t>
            </a:r>
            <a:r>
              <a:rPr dirty="0" u="none" sz="2250" spc="-310"/>
              <a:t> </a:t>
            </a:r>
            <a:r>
              <a:rPr dirty="0" u="none" sz="2250" spc="-434"/>
              <a:t>최적화</a:t>
            </a:r>
            <a:r>
              <a:rPr dirty="0" u="none" sz="2250" spc="-295"/>
              <a:t> </a:t>
            </a:r>
            <a:r>
              <a:rPr dirty="0" u="none" sz="2250" spc="-430"/>
              <a:t>및</a:t>
            </a:r>
            <a:r>
              <a:rPr dirty="0" u="none" sz="2250" spc="-300"/>
              <a:t> </a:t>
            </a:r>
            <a:r>
              <a:rPr dirty="0" u="none" sz="2250" spc="-434"/>
              <a:t>직접적인</a:t>
            </a:r>
            <a:r>
              <a:rPr dirty="0" u="none" sz="2250" spc="-295"/>
              <a:t> </a:t>
            </a:r>
            <a:r>
              <a:rPr dirty="0" u="none" sz="2250" spc="-434"/>
              <a:t>데이터</a:t>
            </a:r>
            <a:r>
              <a:rPr dirty="0" u="none" sz="2250" spc="-300"/>
              <a:t> </a:t>
            </a:r>
            <a:r>
              <a:rPr dirty="0" u="none" sz="2250" spc="-430"/>
              <a:t>접근</a:t>
            </a:r>
            <a:r>
              <a:rPr dirty="0" u="none" sz="2250" spc="-295"/>
              <a:t> </a:t>
            </a:r>
            <a:r>
              <a:rPr dirty="0" u="none" sz="2250" spc="-455"/>
              <a:t>구현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54749" y="849438"/>
            <a:ext cx="954214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659755" algn="l"/>
              </a:tabLst>
            </a:pPr>
            <a:r>
              <a:rPr dirty="0" sz="2000" spc="95">
                <a:solidFill>
                  <a:srgbClr val="46546F"/>
                </a:solidFill>
                <a:latin typeface="Calibri"/>
                <a:cs typeface="Calibri"/>
              </a:rPr>
              <a:t>PROJECTS</a:t>
            </a:r>
            <a:r>
              <a:rPr dirty="0" sz="2000">
                <a:solidFill>
                  <a:srgbClr val="46546F"/>
                </a:solidFill>
                <a:latin typeface="Calibri"/>
                <a:cs typeface="Calibri"/>
              </a:rPr>
              <a:t>	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교내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생태전환프로젝트공모전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1800" spc="-270">
                <a:solidFill>
                  <a:srgbClr val="46546F"/>
                </a:solidFill>
                <a:latin typeface="Verdana"/>
                <a:cs typeface="Verdana"/>
              </a:rPr>
              <a:t>2</a:t>
            </a:r>
            <a:r>
              <a:rPr dirty="0" sz="2000" spc="-270">
                <a:solidFill>
                  <a:srgbClr val="46546F"/>
                </a:solidFill>
                <a:latin typeface="Malgun Gothic"/>
                <a:cs typeface="Malgun Gothic"/>
              </a:rPr>
              <a:t>위</a:t>
            </a:r>
            <a:r>
              <a:rPr dirty="0" sz="200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수상작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163074" y="9905"/>
            <a:ext cx="5786755" cy="5968365"/>
            <a:chOff x="12163074" y="9905"/>
            <a:chExt cx="5786755" cy="59683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17504" y="9905"/>
              <a:ext cx="3531991" cy="345990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0065" y="694934"/>
              <a:ext cx="2084356" cy="208435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63074" y="3101309"/>
              <a:ext cx="5095859" cy="2876549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2502" y="6206916"/>
            <a:ext cx="5953109" cy="30479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1749" y="4108795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749" y="4508845"/>
            <a:ext cx="85725" cy="857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749" y="4908895"/>
            <a:ext cx="85725" cy="857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4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85" b="0">
                <a:latin typeface="Arial Black"/>
                <a:cs typeface="Arial Black"/>
              </a:rPr>
              <a:t>Tresure</a:t>
            </a:r>
            <a:r>
              <a:rPr dirty="0" sz="5000" spc="-459" b="0">
                <a:latin typeface="Arial Black"/>
                <a:cs typeface="Arial Black"/>
              </a:rPr>
              <a:t> </a:t>
            </a:r>
            <a:r>
              <a:rPr dirty="0" sz="5000" spc="-240" b="0">
                <a:latin typeface="Arial Black"/>
                <a:cs typeface="Arial Black"/>
              </a:rPr>
              <a:t>Hunter</a:t>
            </a:r>
            <a:r>
              <a:rPr dirty="0" sz="5000" spc="-459" b="0">
                <a:latin typeface="Arial Black"/>
                <a:cs typeface="Arial Black"/>
              </a:rPr>
              <a:t> </a:t>
            </a:r>
            <a:r>
              <a:rPr dirty="0" sz="5000" spc="-300" b="0">
                <a:latin typeface="Arial Black"/>
                <a:cs typeface="Arial Black"/>
              </a:rPr>
              <a:t>(2025)</a:t>
            </a:r>
            <a:endParaRPr sz="5000">
              <a:latin typeface="Arial Black"/>
              <a:cs typeface="Arial Black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1749" y="6046957"/>
            <a:ext cx="85725" cy="8572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1749" y="6447007"/>
            <a:ext cx="85725" cy="8572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1749" y="6847057"/>
            <a:ext cx="85725" cy="857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81749" y="8141055"/>
            <a:ext cx="85725" cy="8572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15137" y="8536342"/>
            <a:ext cx="95250" cy="9525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178549" y="2334022"/>
            <a:ext cx="7155815" cy="68014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50" spc="-58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플레이</a:t>
            </a:r>
            <a:r>
              <a:rPr dirty="0" u="heavy" sz="3050" spc="-42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 </a:t>
            </a:r>
            <a:r>
              <a:rPr dirty="0" u="heavy" sz="3050" spc="-58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영상</a:t>
            </a:r>
            <a:r>
              <a:rPr dirty="0" u="heavy" sz="3050" spc="-40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 </a:t>
            </a:r>
            <a:r>
              <a:rPr dirty="0" u="heavy" sz="3050" spc="-61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링크</a:t>
            </a:r>
            <a:endParaRPr sz="30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27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-365">
                <a:solidFill>
                  <a:srgbClr val="46546F"/>
                </a:solidFill>
                <a:latin typeface="Verdana"/>
                <a:cs typeface="Verdana"/>
              </a:rPr>
              <a:t>[</a:t>
            </a:r>
            <a:r>
              <a:rPr dirty="0" sz="2250" spc="-365">
                <a:solidFill>
                  <a:srgbClr val="46546F"/>
                </a:solidFill>
                <a:latin typeface="Malgun Gothic"/>
                <a:cs typeface="Malgun Gothic"/>
              </a:rPr>
              <a:t>담당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90">
                <a:solidFill>
                  <a:srgbClr val="46546F"/>
                </a:solidFill>
                <a:latin typeface="Malgun Gothic"/>
                <a:cs typeface="Malgun Gothic"/>
              </a:rPr>
              <a:t>역할</a:t>
            </a:r>
            <a:r>
              <a:rPr dirty="0" sz="2000" spc="-390">
                <a:solidFill>
                  <a:srgbClr val="46546F"/>
                </a:solidFill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>
              <a:lnSpc>
                <a:spcPct val="100000"/>
              </a:lnSpc>
              <a:spcBef>
                <a:spcPts val="450"/>
              </a:spcBef>
            </a:pP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장비</a:t>
            </a:r>
            <a:r>
              <a:rPr dirty="0" sz="2250" spc="-31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강화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시스템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개발</a:t>
            </a:r>
            <a:endParaRPr sz="2250">
              <a:latin typeface="Malgun Gothic"/>
              <a:cs typeface="Malgun Gothic"/>
            </a:endParaRPr>
          </a:p>
          <a:p>
            <a:pPr marL="443865" marR="2291715">
              <a:lnSpc>
                <a:spcPct val="116700"/>
              </a:lnSpc>
            </a:pP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스테이지</a:t>
            </a:r>
            <a:r>
              <a:rPr dirty="0" sz="2250" spc="-31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리셋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75">
                <a:solidFill>
                  <a:srgbClr val="46546F"/>
                </a:solidFill>
                <a:latin typeface="Malgun Gothic"/>
                <a:cs typeface="Malgun Gothic"/>
              </a:rPr>
              <a:t>시스템</a:t>
            </a:r>
            <a:r>
              <a:rPr dirty="0" sz="2000" spc="-375">
                <a:solidFill>
                  <a:srgbClr val="46546F"/>
                </a:solidFill>
                <a:latin typeface="Verdana"/>
                <a:cs typeface="Verdana"/>
              </a:rPr>
              <a:t>,</a:t>
            </a:r>
            <a:r>
              <a:rPr dirty="0" sz="2000" spc="-21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퍼즐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기획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개발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오브젝트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수집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75">
                <a:solidFill>
                  <a:srgbClr val="46546F"/>
                </a:solidFill>
                <a:latin typeface="Malgun Gothic"/>
                <a:cs typeface="Malgun Gothic"/>
              </a:rPr>
              <a:t>시스템</a:t>
            </a:r>
            <a:r>
              <a:rPr dirty="0" sz="2000" spc="-375">
                <a:solidFill>
                  <a:srgbClr val="46546F"/>
                </a:solidFill>
                <a:latin typeface="Verdana"/>
                <a:cs typeface="Verdana"/>
              </a:rPr>
              <a:t>,</a:t>
            </a:r>
            <a:r>
              <a:rPr dirty="0" sz="2000" spc="-21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아이템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별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기능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구현</a:t>
            </a:r>
            <a:endParaRPr sz="22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110"/>
              </a:spcBef>
            </a:pPr>
            <a:r>
              <a:rPr dirty="0" sz="2000" spc="-365">
                <a:solidFill>
                  <a:srgbClr val="46546F"/>
                </a:solidFill>
                <a:latin typeface="Verdana"/>
                <a:cs typeface="Verdana"/>
              </a:rPr>
              <a:t>[</a:t>
            </a:r>
            <a:r>
              <a:rPr dirty="0" sz="2250" spc="-365">
                <a:solidFill>
                  <a:srgbClr val="46546F"/>
                </a:solidFill>
                <a:latin typeface="Malgun Gothic"/>
                <a:cs typeface="Malgun Gothic"/>
              </a:rPr>
              <a:t>핵심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90">
                <a:solidFill>
                  <a:srgbClr val="46546F"/>
                </a:solidFill>
                <a:latin typeface="Malgun Gothic"/>
                <a:cs typeface="Malgun Gothic"/>
              </a:rPr>
              <a:t>기능</a:t>
            </a:r>
            <a:r>
              <a:rPr dirty="0" sz="2000" spc="-390">
                <a:solidFill>
                  <a:srgbClr val="46546F"/>
                </a:solidFill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>
              <a:lnSpc>
                <a:spcPct val="100000"/>
              </a:lnSpc>
              <a:spcBef>
                <a:spcPts val="450"/>
              </a:spcBef>
            </a:pPr>
            <a:r>
              <a:rPr dirty="0" sz="2000">
                <a:solidFill>
                  <a:srgbClr val="46546F"/>
                </a:solidFill>
                <a:latin typeface="Verdana"/>
                <a:cs typeface="Verdana"/>
              </a:rPr>
              <a:t>Json</a:t>
            </a:r>
            <a:r>
              <a:rPr dirty="0" sz="2000" spc="-17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기반</a:t>
            </a:r>
            <a:r>
              <a:rPr dirty="0" sz="225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랭킹</a:t>
            </a:r>
            <a:r>
              <a:rPr dirty="0" sz="225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9">
                <a:solidFill>
                  <a:srgbClr val="46546F"/>
                </a:solidFill>
                <a:latin typeface="Malgun Gothic"/>
                <a:cs typeface="Malgun Gothic"/>
              </a:rPr>
              <a:t>시스템</a:t>
            </a:r>
            <a:endParaRPr sz="2250">
              <a:latin typeface="Malgun Gothic"/>
              <a:cs typeface="Malgun Gothic"/>
            </a:endParaRPr>
          </a:p>
          <a:p>
            <a:pPr marL="443865" marR="2786380">
              <a:lnSpc>
                <a:spcPct val="116700"/>
              </a:lnSpc>
            </a:pPr>
            <a:r>
              <a:rPr dirty="0" sz="2000" spc="-25">
                <a:solidFill>
                  <a:srgbClr val="46546F"/>
                </a:solidFill>
                <a:latin typeface="Verdana"/>
                <a:cs typeface="Verdana"/>
              </a:rPr>
              <a:t>Struct</a:t>
            </a:r>
            <a:r>
              <a:rPr dirty="0" sz="2000" spc="-21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46546F"/>
                </a:solidFill>
                <a:latin typeface="Verdana"/>
                <a:cs typeface="Verdana"/>
              </a:rPr>
              <a:t>List</a:t>
            </a:r>
            <a:r>
              <a:rPr dirty="0" sz="2000" spc="-21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기반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장비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스탯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9">
                <a:solidFill>
                  <a:srgbClr val="46546F"/>
                </a:solidFill>
                <a:latin typeface="Malgun Gothic"/>
                <a:cs typeface="Malgun Gothic"/>
              </a:rPr>
              <a:t>시스템 </a:t>
            </a:r>
            <a:r>
              <a:rPr dirty="0" sz="2000" spc="-90">
                <a:solidFill>
                  <a:srgbClr val="46546F"/>
                </a:solidFill>
                <a:latin typeface="Verdana"/>
                <a:cs typeface="Verdana"/>
              </a:rPr>
              <a:t>Singleton</a:t>
            </a:r>
            <a:r>
              <a:rPr dirty="0" sz="2250" spc="-90">
                <a:solidFill>
                  <a:srgbClr val="46546F"/>
                </a:solidFill>
                <a:latin typeface="Malgun Gothic"/>
                <a:cs typeface="Malgun Gothic"/>
              </a:rPr>
              <a:t>을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활용한</a:t>
            </a:r>
            <a:r>
              <a:rPr dirty="0" sz="2250" spc="-26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매니저</a:t>
            </a:r>
            <a:r>
              <a:rPr dirty="0" sz="2250" spc="-26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9">
                <a:solidFill>
                  <a:srgbClr val="46546F"/>
                </a:solidFill>
                <a:latin typeface="Malgun Gothic"/>
                <a:cs typeface="Malgun Gothic"/>
              </a:rPr>
              <a:t>클래스</a:t>
            </a:r>
            <a:endParaRPr sz="22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365">
                <a:solidFill>
                  <a:srgbClr val="46546F"/>
                </a:solidFill>
                <a:latin typeface="Verdana"/>
                <a:cs typeface="Verdana"/>
              </a:rPr>
              <a:t>[</a:t>
            </a:r>
            <a:r>
              <a:rPr dirty="0" sz="2250" spc="-365">
                <a:solidFill>
                  <a:srgbClr val="46546F"/>
                </a:solidFill>
                <a:latin typeface="Malgun Gothic"/>
                <a:cs typeface="Malgun Gothic"/>
              </a:rPr>
              <a:t>문제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해결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90">
                <a:solidFill>
                  <a:srgbClr val="46546F"/>
                </a:solidFill>
                <a:latin typeface="Malgun Gothic"/>
                <a:cs typeface="Malgun Gothic"/>
              </a:rPr>
              <a:t>경험</a:t>
            </a:r>
            <a:r>
              <a:rPr dirty="0" sz="2000" spc="-390">
                <a:solidFill>
                  <a:srgbClr val="46546F"/>
                </a:solidFill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506730">
              <a:lnSpc>
                <a:spcPct val="100000"/>
              </a:lnSpc>
              <a:spcBef>
                <a:spcPts val="450"/>
              </a:spcBef>
            </a:pP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조문과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반복문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위주의</a:t>
            </a:r>
            <a:r>
              <a:rPr dirty="0" sz="225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하드코딩된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상점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로직</a:t>
            </a:r>
            <a:endParaRPr sz="2250">
              <a:latin typeface="Malgun Gothic"/>
              <a:cs typeface="Malgun Gothic"/>
            </a:endParaRPr>
          </a:p>
          <a:p>
            <a:pPr marL="875665">
              <a:lnSpc>
                <a:spcPct val="100000"/>
              </a:lnSpc>
              <a:spcBef>
                <a:spcPts val="450"/>
              </a:spcBef>
            </a:pPr>
            <a:r>
              <a:rPr dirty="0" sz="2000" spc="-85">
                <a:solidFill>
                  <a:srgbClr val="46546F"/>
                </a:solidFill>
                <a:latin typeface="Verdana"/>
                <a:cs typeface="Verdana"/>
              </a:rPr>
              <a:t>Struct</a:t>
            </a:r>
            <a:r>
              <a:rPr dirty="0" sz="2250" spc="-85">
                <a:solidFill>
                  <a:srgbClr val="46546F"/>
                </a:solidFill>
                <a:latin typeface="Malgun Gothic"/>
                <a:cs typeface="Malgun Gothic"/>
              </a:rPr>
              <a:t>와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100">
                <a:solidFill>
                  <a:srgbClr val="46546F"/>
                </a:solidFill>
                <a:latin typeface="Verdana"/>
                <a:cs typeface="Verdana"/>
              </a:rPr>
              <a:t>List</a:t>
            </a:r>
            <a:r>
              <a:rPr dirty="0" sz="2250" spc="-100">
                <a:solidFill>
                  <a:srgbClr val="46546F"/>
                </a:solidFill>
                <a:latin typeface="Malgun Gothic"/>
                <a:cs typeface="Malgun Gothic"/>
              </a:rPr>
              <a:t>를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활용하여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데이터를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95">
                <a:solidFill>
                  <a:srgbClr val="46546F"/>
                </a:solidFill>
                <a:latin typeface="Malgun Gothic"/>
                <a:cs typeface="Malgun Gothic"/>
              </a:rPr>
              <a:t>규격화하고</a:t>
            </a:r>
            <a:r>
              <a:rPr dirty="0" sz="2000" spc="-395">
                <a:solidFill>
                  <a:srgbClr val="46546F"/>
                </a:solidFill>
                <a:latin typeface="Verdana"/>
                <a:cs typeface="Verdana"/>
              </a:rPr>
              <a:t>,</a:t>
            </a:r>
            <a:r>
              <a:rPr dirty="0" sz="2000" spc="-19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46546F"/>
                </a:solidFill>
                <a:latin typeface="Verdana"/>
                <a:cs typeface="Verdana"/>
              </a:rPr>
              <a:t>Inspector</a:t>
            </a:r>
            <a:endParaRPr sz="2000">
              <a:latin typeface="Verdana"/>
              <a:cs typeface="Verdana"/>
            </a:endParaRPr>
          </a:p>
          <a:p>
            <a:pPr marL="875665">
              <a:lnSpc>
                <a:spcPct val="100000"/>
              </a:lnSpc>
              <a:spcBef>
                <a:spcPts val="450"/>
              </a:spcBef>
            </a:pP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기반의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데이터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할당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방식으로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코드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유연성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관리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효율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증대</a:t>
            </a:r>
            <a:endParaRPr sz="22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54749" y="849438"/>
            <a:ext cx="954214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238750" algn="l"/>
              </a:tabLst>
            </a:pPr>
            <a:r>
              <a:rPr dirty="0" sz="2000" spc="95">
                <a:solidFill>
                  <a:srgbClr val="46546F"/>
                </a:solidFill>
                <a:latin typeface="Calibri"/>
                <a:cs typeface="Calibri"/>
              </a:rPr>
              <a:t>PROJECTS</a:t>
            </a:r>
            <a:r>
              <a:rPr dirty="0" sz="2000">
                <a:solidFill>
                  <a:srgbClr val="46546F"/>
                </a:solidFill>
                <a:latin typeface="Calibri"/>
                <a:cs typeface="Calibri"/>
              </a:rPr>
              <a:t>	</a:t>
            </a:r>
            <a:r>
              <a:rPr dirty="0" sz="1800" spc="-90">
                <a:solidFill>
                  <a:srgbClr val="46546F"/>
                </a:solidFill>
                <a:latin typeface="Verdana"/>
                <a:cs typeface="Verdana"/>
              </a:rPr>
              <a:t>2025</a:t>
            </a:r>
            <a:r>
              <a:rPr dirty="0" sz="1800" spc="-18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지방기능경기대회</a:t>
            </a:r>
            <a:r>
              <a:rPr dirty="0" sz="2000" spc="-25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게임개발부문</a:t>
            </a:r>
            <a:r>
              <a:rPr dirty="0" sz="2000" spc="-254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출품작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4220" y="5685037"/>
            <a:ext cx="6476999" cy="36385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4220" y="1884029"/>
            <a:ext cx="6476999" cy="363854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749" y="4438040"/>
            <a:ext cx="85725" cy="857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1749" y="4838090"/>
            <a:ext cx="85725" cy="857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4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25" b="0">
                <a:latin typeface="Arial Black"/>
                <a:cs typeface="Arial Black"/>
              </a:rPr>
              <a:t>Ghost</a:t>
            </a:r>
            <a:r>
              <a:rPr dirty="0" sz="5000" spc="-490" b="0">
                <a:latin typeface="Arial Black"/>
                <a:cs typeface="Arial Black"/>
              </a:rPr>
              <a:t> </a:t>
            </a:r>
            <a:r>
              <a:rPr dirty="0" sz="5000" spc="-300" b="0">
                <a:latin typeface="Arial Black"/>
                <a:cs typeface="Arial Black"/>
              </a:rPr>
              <a:t>Shooting</a:t>
            </a:r>
            <a:r>
              <a:rPr dirty="0" sz="5000" spc="-490" b="0">
                <a:latin typeface="Arial Black"/>
                <a:cs typeface="Arial Black"/>
              </a:rPr>
              <a:t> </a:t>
            </a:r>
            <a:r>
              <a:rPr dirty="0" sz="5000" spc="-300" b="0">
                <a:latin typeface="Arial Black"/>
                <a:cs typeface="Arial Black"/>
              </a:rPr>
              <a:t>(2025)</a:t>
            </a:r>
            <a:endParaRPr sz="5000">
              <a:latin typeface="Arial Black"/>
              <a:cs typeface="Arial Black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1749" y="6046957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749" y="6447007"/>
            <a:ext cx="85725" cy="857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749" y="6847057"/>
            <a:ext cx="85725" cy="857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1749" y="8141055"/>
            <a:ext cx="85725" cy="8572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15137" y="8536342"/>
            <a:ext cx="95250" cy="9525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178549" y="3806454"/>
            <a:ext cx="7268845" cy="492887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2000" spc="-365">
                <a:solidFill>
                  <a:srgbClr val="46546F"/>
                </a:solidFill>
                <a:latin typeface="Verdana"/>
                <a:cs typeface="Verdana"/>
              </a:rPr>
              <a:t>[</a:t>
            </a:r>
            <a:r>
              <a:rPr dirty="0" sz="2250" spc="-365">
                <a:solidFill>
                  <a:srgbClr val="46546F"/>
                </a:solidFill>
                <a:latin typeface="Malgun Gothic"/>
                <a:cs typeface="Malgun Gothic"/>
              </a:rPr>
              <a:t>담당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90">
                <a:solidFill>
                  <a:srgbClr val="46546F"/>
                </a:solidFill>
                <a:latin typeface="Malgun Gothic"/>
                <a:cs typeface="Malgun Gothic"/>
              </a:rPr>
              <a:t>역할</a:t>
            </a:r>
            <a:r>
              <a:rPr dirty="0" sz="2000" spc="-390">
                <a:solidFill>
                  <a:srgbClr val="46546F"/>
                </a:solidFill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>
              <a:lnSpc>
                <a:spcPct val="100000"/>
              </a:lnSpc>
              <a:spcBef>
                <a:spcPts val="450"/>
              </a:spcBef>
            </a:pP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플레이어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컨트롤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시스템</a:t>
            </a:r>
            <a:r>
              <a:rPr dirty="0" sz="225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개발</a:t>
            </a:r>
            <a:endParaRPr sz="2250">
              <a:latin typeface="Malgun Gothic"/>
              <a:cs typeface="Malgun Gothic"/>
            </a:endParaRPr>
          </a:p>
          <a:p>
            <a:pPr marL="443865">
              <a:lnSpc>
                <a:spcPct val="100000"/>
              </a:lnSpc>
              <a:spcBef>
                <a:spcPts val="450"/>
              </a:spcBef>
            </a:pP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적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장애물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감지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플레이어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추적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145">
                <a:solidFill>
                  <a:srgbClr val="46546F"/>
                </a:solidFill>
                <a:latin typeface="Verdana"/>
                <a:cs typeface="Verdana"/>
              </a:rPr>
              <a:t>AI</a:t>
            </a:r>
            <a:r>
              <a:rPr dirty="0" sz="2000" spc="-21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개발</a:t>
            </a:r>
            <a:endParaRPr sz="22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365">
                <a:solidFill>
                  <a:srgbClr val="46546F"/>
                </a:solidFill>
                <a:latin typeface="Verdana"/>
                <a:cs typeface="Verdana"/>
              </a:rPr>
              <a:t>[</a:t>
            </a:r>
            <a:r>
              <a:rPr dirty="0" sz="2250" spc="-365">
                <a:solidFill>
                  <a:srgbClr val="46546F"/>
                </a:solidFill>
                <a:latin typeface="Malgun Gothic"/>
                <a:cs typeface="Malgun Gothic"/>
              </a:rPr>
              <a:t>핵심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90">
                <a:solidFill>
                  <a:srgbClr val="46546F"/>
                </a:solidFill>
                <a:latin typeface="Malgun Gothic"/>
                <a:cs typeface="Malgun Gothic"/>
              </a:rPr>
              <a:t>기능</a:t>
            </a:r>
            <a:r>
              <a:rPr dirty="0" sz="2000" spc="-390">
                <a:solidFill>
                  <a:srgbClr val="46546F"/>
                </a:solidFill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 marR="2769870">
              <a:lnSpc>
                <a:spcPct val="116700"/>
              </a:lnSpc>
            </a:pPr>
            <a:r>
              <a:rPr dirty="0" sz="2000" spc="-25">
                <a:solidFill>
                  <a:srgbClr val="46546F"/>
                </a:solidFill>
                <a:latin typeface="Verdana"/>
                <a:cs typeface="Verdana"/>
              </a:rPr>
              <a:t>Object</a:t>
            </a:r>
            <a:r>
              <a:rPr dirty="0" sz="2000" spc="-19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25">
                <a:solidFill>
                  <a:srgbClr val="46546F"/>
                </a:solidFill>
                <a:latin typeface="Verdana"/>
                <a:cs typeface="Verdana"/>
              </a:rPr>
              <a:t>Pooling</a:t>
            </a:r>
            <a:r>
              <a:rPr dirty="0" sz="2000" spc="-19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적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오브젝트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65">
                <a:solidFill>
                  <a:srgbClr val="46546F"/>
                </a:solidFill>
                <a:latin typeface="Malgun Gothic"/>
                <a:cs typeface="Malgun Gothic"/>
              </a:rPr>
              <a:t>관리 </a:t>
            </a:r>
            <a:r>
              <a:rPr dirty="0" sz="2000" spc="-50">
                <a:solidFill>
                  <a:srgbClr val="46546F"/>
                </a:solidFill>
                <a:latin typeface="Verdana"/>
                <a:cs typeface="Verdana"/>
              </a:rPr>
              <a:t>Raycast</a:t>
            </a:r>
            <a:r>
              <a:rPr dirty="0" sz="2000" spc="-20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기반</a:t>
            </a:r>
            <a:r>
              <a:rPr dirty="0" sz="225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벽</a:t>
            </a:r>
            <a:r>
              <a:rPr dirty="0" sz="225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감지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46546F"/>
                </a:solidFill>
                <a:latin typeface="Verdana"/>
                <a:cs typeface="Verdana"/>
              </a:rPr>
              <a:t>AI </a:t>
            </a:r>
            <a:r>
              <a:rPr dirty="0" sz="2000" spc="-65">
                <a:solidFill>
                  <a:srgbClr val="46546F"/>
                </a:solidFill>
                <a:latin typeface="Verdana"/>
                <a:cs typeface="Verdana"/>
              </a:rPr>
              <a:t>Coroutine</a:t>
            </a:r>
            <a:r>
              <a:rPr dirty="0" sz="2250" spc="-65">
                <a:solidFill>
                  <a:srgbClr val="46546F"/>
                </a:solidFill>
                <a:latin typeface="Malgun Gothic"/>
                <a:cs typeface="Malgun Gothic"/>
              </a:rPr>
              <a:t>을</a:t>
            </a:r>
            <a:r>
              <a:rPr dirty="0" sz="225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활용한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장애물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생성</a:t>
            </a:r>
            <a:r>
              <a:rPr dirty="0" sz="2250" spc="-28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기믹</a:t>
            </a:r>
            <a:endParaRPr sz="22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-365">
                <a:solidFill>
                  <a:srgbClr val="46546F"/>
                </a:solidFill>
                <a:latin typeface="Verdana"/>
                <a:cs typeface="Verdana"/>
              </a:rPr>
              <a:t>[</a:t>
            </a:r>
            <a:r>
              <a:rPr dirty="0" sz="2250" spc="-365">
                <a:solidFill>
                  <a:srgbClr val="46546F"/>
                </a:solidFill>
                <a:latin typeface="Malgun Gothic"/>
                <a:cs typeface="Malgun Gothic"/>
              </a:rPr>
              <a:t>문제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해결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390">
                <a:solidFill>
                  <a:srgbClr val="46546F"/>
                </a:solidFill>
                <a:latin typeface="Malgun Gothic"/>
                <a:cs typeface="Malgun Gothic"/>
              </a:rPr>
              <a:t>경험</a:t>
            </a:r>
            <a:r>
              <a:rPr dirty="0" sz="2000" spc="-390">
                <a:solidFill>
                  <a:srgbClr val="46546F"/>
                </a:solidFill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443865">
              <a:lnSpc>
                <a:spcPct val="100000"/>
              </a:lnSpc>
              <a:spcBef>
                <a:spcPts val="450"/>
              </a:spcBef>
            </a:pP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탄막</a:t>
            </a:r>
            <a:r>
              <a:rPr dirty="0" sz="2250" spc="-31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적</a:t>
            </a:r>
            <a:r>
              <a:rPr dirty="0" sz="225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오브젝트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증가로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인한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성능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저하</a:t>
            </a:r>
            <a:r>
              <a:rPr dirty="0" sz="2250" spc="-30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5">
                <a:solidFill>
                  <a:srgbClr val="46546F"/>
                </a:solidFill>
                <a:latin typeface="Malgun Gothic"/>
                <a:cs typeface="Malgun Gothic"/>
              </a:rPr>
              <a:t>위험</a:t>
            </a:r>
            <a:endParaRPr sz="2250">
              <a:latin typeface="Malgun Gothic"/>
              <a:cs typeface="Malgun Gothic"/>
            </a:endParaRPr>
          </a:p>
          <a:p>
            <a:pPr marL="875665">
              <a:lnSpc>
                <a:spcPct val="100000"/>
              </a:lnSpc>
              <a:spcBef>
                <a:spcPts val="450"/>
              </a:spcBef>
            </a:pPr>
            <a:r>
              <a:rPr dirty="0" sz="2000" spc="-25">
                <a:solidFill>
                  <a:srgbClr val="46546F"/>
                </a:solidFill>
                <a:latin typeface="Verdana"/>
                <a:cs typeface="Verdana"/>
              </a:rPr>
              <a:t>Object</a:t>
            </a:r>
            <a:r>
              <a:rPr dirty="0" sz="2000" spc="-20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46546F"/>
                </a:solidFill>
                <a:latin typeface="Verdana"/>
                <a:cs typeface="Verdana"/>
              </a:rPr>
              <a:t>Pooling</a:t>
            </a:r>
            <a:r>
              <a:rPr dirty="0" sz="2250" spc="-70">
                <a:solidFill>
                  <a:srgbClr val="46546F"/>
                </a:solidFill>
                <a:latin typeface="Malgun Gothic"/>
                <a:cs typeface="Malgun Gothic"/>
              </a:rPr>
              <a:t>을</a:t>
            </a:r>
            <a:r>
              <a:rPr dirty="0" sz="225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통한</a:t>
            </a:r>
            <a:r>
              <a:rPr dirty="0" sz="225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리소스</a:t>
            </a:r>
            <a:r>
              <a:rPr dirty="0" sz="225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관리로</a:t>
            </a:r>
            <a:r>
              <a:rPr dirty="0" sz="225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4">
                <a:solidFill>
                  <a:srgbClr val="46546F"/>
                </a:solidFill>
                <a:latin typeface="Malgun Gothic"/>
                <a:cs typeface="Malgun Gothic"/>
              </a:rPr>
              <a:t>인스턴스</a:t>
            </a:r>
            <a:r>
              <a:rPr dirty="0" sz="225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30">
                <a:solidFill>
                  <a:srgbClr val="46546F"/>
                </a:solidFill>
                <a:latin typeface="Malgun Gothic"/>
                <a:cs typeface="Malgun Gothic"/>
              </a:rPr>
              <a:t>관리</a:t>
            </a:r>
            <a:r>
              <a:rPr dirty="0" sz="225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50" spc="-459">
                <a:solidFill>
                  <a:srgbClr val="46546F"/>
                </a:solidFill>
                <a:latin typeface="Malgun Gothic"/>
                <a:cs typeface="Malgun Gothic"/>
              </a:rPr>
              <a:t>효율화</a:t>
            </a:r>
            <a:endParaRPr sz="225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78549" y="2334022"/>
            <a:ext cx="2400935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50" spc="-58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0"/>
              </a:rPr>
              <a:t>플레이</a:t>
            </a:r>
            <a:r>
              <a:rPr dirty="0" u="heavy" sz="3050" spc="-42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0"/>
              </a:rPr>
              <a:t> </a:t>
            </a:r>
            <a:r>
              <a:rPr dirty="0" u="heavy" sz="3050" spc="-58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0"/>
              </a:rPr>
              <a:t>영상</a:t>
            </a:r>
            <a:r>
              <a:rPr dirty="0" u="heavy" sz="3050" spc="-40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0"/>
              </a:rPr>
              <a:t> </a:t>
            </a:r>
            <a:r>
              <a:rPr dirty="0" u="heavy" sz="3050" spc="-61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0"/>
              </a:rPr>
              <a:t>링크</a:t>
            </a:r>
            <a:endParaRPr sz="30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54749" y="849438"/>
            <a:ext cx="954214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56205" algn="l"/>
              </a:tabLst>
            </a:pPr>
            <a:r>
              <a:rPr dirty="0" sz="2000" spc="95">
                <a:solidFill>
                  <a:srgbClr val="46546F"/>
                </a:solidFill>
                <a:latin typeface="Calibri"/>
                <a:cs typeface="Calibri"/>
              </a:rPr>
              <a:t>PROJECTS</a:t>
            </a:r>
            <a:r>
              <a:rPr dirty="0" sz="2000">
                <a:solidFill>
                  <a:srgbClr val="46546F"/>
                </a:solidFill>
                <a:latin typeface="Calibri"/>
                <a:cs typeface="Calibri"/>
              </a:rPr>
              <a:t>	</a:t>
            </a:r>
            <a:r>
              <a:rPr dirty="0" sz="1800" spc="-75">
                <a:solidFill>
                  <a:srgbClr val="46546F"/>
                </a:solidFill>
                <a:latin typeface="Verdana"/>
                <a:cs typeface="Verdana"/>
              </a:rPr>
              <a:t>2024</a:t>
            </a:r>
            <a:r>
              <a:rPr dirty="0" sz="1800" spc="-19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미래유망분야</a:t>
            </a:r>
            <a:r>
              <a:rPr dirty="0" sz="2000" spc="-26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고졸인력양성사업훈련기관연계교육</a:t>
            </a:r>
            <a:r>
              <a:rPr dirty="0" sz="2000" spc="-26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solidFill>
                  <a:srgbClr val="46546F"/>
                </a:solidFill>
                <a:latin typeface="Malgun Gothic"/>
                <a:cs typeface="Malgun Gothic"/>
              </a:rPr>
              <a:t>최우수상</a:t>
            </a:r>
            <a:r>
              <a:rPr dirty="0" sz="2000" spc="-26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000" spc="-385">
                <a:solidFill>
                  <a:srgbClr val="46546F"/>
                </a:solidFill>
                <a:latin typeface="Malgun Gothic"/>
                <a:cs typeface="Malgun Gothic"/>
              </a:rPr>
              <a:t>수상작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283" y="3407313"/>
            <a:ext cx="5343323" cy="298130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9598" y="3407313"/>
            <a:ext cx="5305439" cy="29813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0224" y="3398794"/>
            <a:ext cx="5305409" cy="29908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80"/>
              <a:t>기타</a:t>
            </a:r>
            <a:r>
              <a:rPr dirty="0" spc="-810"/>
              <a:t> </a:t>
            </a:r>
            <a:r>
              <a:rPr dirty="0" spc="-1100"/>
              <a:t>프로젝트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254749" y="852549"/>
            <a:ext cx="1165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95">
                <a:solidFill>
                  <a:srgbClr val="46546F"/>
                </a:solidFill>
                <a:latin typeface="Calibri"/>
                <a:cs typeface="Calibri"/>
              </a:rPr>
              <a:t>PROJECTS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8956" y="7303907"/>
            <a:ext cx="88799" cy="887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8956" y="7699471"/>
            <a:ext cx="88799" cy="887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91374" y="6652125"/>
            <a:ext cx="4659630" cy="125349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algn="ctr" marR="124460">
              <a:lnSpc>
                <a:spcPct val="100000"/>
              </a:lnSpc>
              <a:spcBef>
                <a:spcPts val="635"/>
              </a:spcBef>
            </a:pPr>
            <a:r>
              <a:rPr dirty="0" sz="2400" spc="-459" b="1">
                <a:solidFill>
                  <a:srgbClr val="46546F"/>
                </a:solidFill>
                <a:latin typeface="Malgun Gothic"/>
                <a:cs typeface="Malgun Gothic"/>
              </a:rPr>
              <a:t>베이스는</a:t>
            </a:r>
            <a:r>
              <a:rPr dirty="0" sz="2400" spc="-340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360" b="1">
                <a:solidFill>
                  <a:srgbClr val="46546F"/>
                </a:solidFill>
                <a:latin typeface="Malgun Gothic"/>
                <a:cs typeface="Malgun Gothic"/>
              </a:rPr>
              <a:t>있어요</a:t>
            </a:r>
            <a:r>
              <a:rPr dirty="0" sz="2100" spc="-360">
                <a:solidFill>
                  <a:srgbClr val="46546F"/>
                </a:solidFill>
                <a:latin typeface="Arial Black"/>
                <a:cs typeface="Arial Black"/>
              </a:rPr>
              <a:t>!</a:t>
            </a:r>
            <a:r>
              <a:rPr dirty="0" sz="2100" spc="-195">
                <a:solidFill>
                  <a:srgbClr val="46546F"/>
                </a:solidFill>
                <a:latin typeface="Arial Black"/>
                <a:cs typeface="Arial Black"/>
              </a:rPr>
              <a:t> </a:t>
            </a:r>
            <a:r>
              <a:rPr dirty="0" sz="2100" spc="-10">
                <a:solidFill>
                  <a:srgbClr val="46546F"/>
                </a:solidFill>
                <a:latin typeface="Arial Black"/>
                <a:cs typeface="Arial Black"/>
              </a:rPr>
              <a:t>(2024)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악기</a:t>
            </a:r>
            <a:r>
              <a:rPr dirty="0" sz="2200" spc="-30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0">
                <a:solidFill>
                  <a:srgbClr val="46546F"/>
                </a:solidFill>
                <a:latin typeface="Malgun Gothic"/>
                <a:cs typeface="Malgun Gothic"/>
              </a:rPr>
              <a:t>별</a:t>
            </a:r>
            <a:r>
              <a:rPr dirty="0" sz="220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특징을</a:t>
            </a:r>
            <a:r>
              <a:rPr dirty="0" sz="220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살린</a:t>
            </a:r>
            <a:r>
              <a:rPr dirty="0" sz="220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다양한</a:t>
            </a:r>
            <a:r>
              <a:rPr dirty="0" sz="220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리듬게임</a:t>
            </a:r>
            <a:r>
              <a:rPr dirty="0" sz="220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50">
                <a:solidFill>
                  <a:srgbClr val="46546F"/>
                </a:solidFill>
                <a:latin typeface="Malgun Gothic"/>
                <a:cs typeface="Malgun Gothic"/>
              </a:rPr>
              <a:t>구현</a:t>
            </a: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950" spc="-65">
                <a:solidFill>
                  <a:srgbClr val="46546F"/>
                </a:solidFill>
                <a:latin typeface="Verdana"/>
                <a:cs typeface="Verdana"/>
              </a:rPr>
              <a:t>StringReader</a:t>
            </a:r>
            <a:r>
              <a:rPr dirty="0" sz="1950" spc="-16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1950" spc="-240">
                <a:solidFill>
                  <a:srgbClr val="46546F"/>
                </a:solidFill>
                <a:latin typeface="Verdana"/>
                <a:cs typeface="Verdana"/>
              </a:rPr>
              <a:t>txt</a:t>
            </a:r>
            <a:r>
              <a:rPr dirty="0" sz="2200" spc="-240">
                <a:solidFill>
                  <a:srgbClr val="46546F"/>
                </a:solidFill>
                <a:latin typeface="Malgun Gothic"/>
                <a:cs typeface="Malgun Gothic"/>
              </a:rPr>
              <a:t>파일을</a:t>
            </a:r>
            <a:r>
              <a:rPr dirty="0" sz="2200" spc="-25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읽어</a:t>
            </a:r>
            <a:r>
              <a:rPr dirty="0" sz="2200" spc="-254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오브젝트</a:t>
            </a:r>
            <a:r>
              <a:rPr dirty="0" sz="2200" spc="-25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50">
                <a:solidFill>
                  <a:srgbClr val="46546F"/>
                </a:solidFill>
                <a:latin typeface="Malgun Gothic"/>
                <a:cs typeface="Malgun Gothic"/>
              </a:rPr>
              <a:t>소환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35565" y="8155488"/>
            <a:ext cx="203898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2550" spc="-46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7"/>
              </a:rPr>
              <a:t>플레이</a:t>
            </a:r>
            <a:r>
              <a:rPr dirty="0" u="heavy" sz="2550" spc="-34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7"/>
              </a:rPr>
              <a:t> </a:t>
            </a:r>
            <a:r>
              <a:rPr dirty="0" u="heavy" sz="2550" spc="-46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7"/>
              </a:rPr>
              <a:t>영상</a:t>
            </a:r>
            <a:r>
              <a:rPr dirty="0" u="heavy" sz="2550" spc="-33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7"/>
              </a:rPr>
              <a:t> </a:t>
            </a:r>
            <a:r>
              <a:rPr dirty="0" u="heavy" sz="2550" spc="-49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7"/>
              </a:rPr>
              <a:t>링크</a:t>
            </a:r>
            <a:endParaRPr sz="2550">
              <a:latin typeface="Malgun Gothic"/>
              <a:cs typeface="Malgun Gothic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19662" y="7103973"/>
            <a:ext cx="88799" cy="887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43880" y="7515682"/>
            <a:ext cx="96872" cy="9687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43880" y="7943536"/>
            <a:ext cx="96872" cy="96872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942080" y="6488336"/>
            <a:ext cx="4078604" cy="167449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061085">
              <a:lnSpc>
                <a:spcPct val="100000"/>
              </a:lnSpc>
              <a:spcBef>
                <a:spcPts val="650"/>
              </a:spcBef>
            </a:pPr>
            <a:r>
              <a:rPr dirty="0" sz="2100" spc="-95">
                <a:solidFill>
                  <a:srgbClr val="46546F"/>
                </a:solidFill>
                <a:latin typeface="Arial Black"/>
                <a:cs typeface="Arial Black"/>
              </a:rPr>
              <a:t>Help</a:t>
            </a:r>
            <a:r>
              <a:rPr dirty="0" sz="2100" spc="-180">
                <a:solidFill>
                  <a:srgbClr val="46546F"/>
                </a:solidFill>
                <a:latin typeface="Arial Black"/>
                <a:cs typeface="Arial Black"/>
              </a:rPr>
              <a:t> </a:t>
            </a:r>
            <a:r>
              <a:rPr dirty="0" sz="2100" spc="-140">
                <a:solidFill>
                  <a:srgbClr val="46546F"/>
                </a:solidFill>
                <a:latin typeface="Arial Black"/>
                <a:cs typeface="Arial Black"/>
              </a:rPr>
              <a:t>SMCH</a:t>
            </a:r>
            <a:r>
              <a:rPr dirty="0" sz="2100" spc="-180">
                <a:solidFill>
                  <a:srgbClr val="46546F"/>
                </a:solidFill>
                <a:latin typeface="Arial Black"/>
                <a:cs typeface="Arial Black"/>
              </a:rPr>
              <a:t> </a:t>
            </a:r>
            <a:r>
              <a:rPr dirty="0" sz="2100" spc="-10">
                <a:solidFill>
                  <a:srgbClr val="46546F"/>
                </a:solidFill>
                <a:latin typeface="Arial Black"/>
                <a:cs typeface="Arial Black"/>
              </a:rPr>
              <a:t>(2024)</a:t>
            </a:r>
            <a:endParaRPr sz="2100">
              <a:latin typeface="Arial Black"/>
              <a:cs typeface="Arial Black"/>
            </a:endParaRPr>
          </a:p>
          <a:p>
            <a:pPr marL="48895" marR="5080" indent="-36830">
              <a:lnSpc>
                <a:spcPct val="117300"/>
              </a:lnSpc>
              <a:spcBef>
                <a:spcPts val="100"/>
              </a:spcBef>
            </a:pP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세명컴퓨터고등학교</a:t>
            </a:r>
            <a:r>
              <a:rPr dirty="0" sz="220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홍보</a:t>
            </a:r>
            <a:r>
              <a:rPr dirty="0" sz="220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플랫포머</a:t>
            </a:r>
            <a:r>
              <a:rPr dirty="0" sz="220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50">
                <a:solidFill>
                  <a:srgbClr val="46546F"/>
                </a:solidFill>
                <a:latin typeface="Malgun Gothic"/>
                <a:cs typeface="Malgun Gothic"/>
              </a:rPr>
              <a:t>게임 </a:t>
            </a:r>
            <a:r>
              <a:rPr dirty="0" sz="2100" spc="-50">
                <a:solidFill>
                  <a:srgbClr val="46546F"/>
                </a:solidFill>
                <a:latin typeface="Verdana"/>
                <a:cs typeface="Verdana"/>
              </a:rPr>
              <a:t>Raycast</a:t>
            </a:r>
            <a:r>
              <a:rPr dirty="0" sz="2100" spc="-21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기반</a:t>
            </a:r>
            <a:r>
              <a:rPr dirty="0" sz="2400" spc="-31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적</a:t>
            </a:r>
            <a:r>
              <a:rPr dirty="0" sz="2400" spc="-31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이동</a:t>
            </a:r>
            <a:r>
              <a:rPr dirty="0" sz="2400" spc="-31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100" spc="-155">
                <a:solidFill>
                  <a:srgbClr val="46546F"/>
                </a:solidFill>
                <a:latin typeface="Verdana"/>
                <a:cs typeface="Verdana"/>
              </a:rPr>
              <a:t>AI</a:t>
            </a:r>
            <a:r>
              <a:rPr dirty="0" sz="2100" spc="-204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400" spc="-495">
                <a:solidFill>
                  <a:srgbClr val="46546F"/>
                </a:solidFill>
                <a:latin typeface="Malgun Gothic"/>
                <a:cs typeface="Malgun Gothic"/>
              </a:rPr>
              <a:t>구현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플레이어</a:t>
            </a:r>
            <a:r>
              <a:rPr dirty="0" sz="2400" spc="-32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등</a:t>
            </a:r>
            <a:r>
              <a:rPr dirty="0" sz="2400" spc="-32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일부</a:t>
            </a:r>
            <a:r>
              <a:rPr dirty="0" sz="2400" spc="-32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도트</a:t>
            </a:r>
            <a:r>
              <a:rPr dirty="0" sz="2400" spc="-32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459">
                <a:solidFill>
                  <a:srgbClr val="46546F"/>
                </a:solidFill>
                <a:latin typeface="Malgun Gothic"/>
                <a:cs typeface="Malgun Gothic"/>
              </a:rPr>
              <a:t>그래픽</a:t>
            </a:r>
            <a:r>
              <a:rPr dirty="0" sz="2400" spc="-32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400" spc="-484">
                <a:solidFill>
                  <a:srgbClr val="46546F"/>
                </a:solidFill>
                <a:latin typeface="Malgun Gothic"/>
                <a:cs typeface="Malgun Gothic"/>
              </a:rPr>
              <a:t>제작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204083" y="8268944"/>
            <a:ext cx="203898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2550" spc="-46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9"/>
              </a:rPr>
              <a:t>플레이</a:t>
            </a:r>
            <a:r>
              <a:rPr dirty="0" u="heavy" sz="2550" spc="-34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9"/>
              </a:rPr>
              <a:t> </a:t>
            </a:r>
            <a:r>
              <a:rPr dirty="0" u="heavy" sz="2550" spc="-46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9"/>
              </a:rPr>
              <a:t>영상</a:t>
            </a:r>
            <a:r>
              <a:rPr dirty="0" u="heavy" sz="2550" spc="-33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9"/>
              </a:rPr>
              <a:t> </a:t>
            </a:r>
            <a:r>
              <a:rPr dirty="0" u="heavy" sz="2550" spc="-49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9"/>
              </a:rPr>
              <a:t>링크</a:t>
            </a:r>
            <a:endParaRPr sz="2550">
              <a:latin typeface="Malgun Gothic"/>
              <a:cs typeface="Malgun Gothic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77252" y="7331893"/>
            <a:ext cx="88799" cy="8879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877252" y="7727456"/>
            <a:ext cx="88799" cy="8879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3099670" y="6716255"/>
            <a:ext cx="3432175" cy="121729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318770">
              <a:lnSpc>
                <a:spcPct val="100000"/>
              </a:lnSpc>
              <a:spcBef>
                <a:spcPts val="650"/>
              </a:spcBef>
            </a:pPr>
            <a:r>
              <a:rPr dirty="0" sz="2100" spc="-204">
                <a:solidFill>
                  <a:srgbClr val="46546F"/>
                </a:solidFill>
                <a:latin typeface="Arial Black"/>
                <a:cs typeface="Arial Black"/>
              </a:rPr>
              <a:t>Sweet</a:t>
            </a:r>
            <a:r>
              <a:rPr dirty="0" sz="2100" spc="-170">
                <a:solidFill>
                  <a:srgbClr val="46546F"/>
                </a:solidFill>
                <a:latin typeface="Arial Black"/>
                <a:cs typeface="Arial Black"/>
              </a:rPr>
              <a:t> </a:t>
            </a:r>
            <a:r>
              <a:rPr dirty="0" sz="2100" spc="-135">
                <a:solidFill>
                  <a:srgbClr val="46546F"/>
                </a:solidFill>
                <a:latin typeface="Arial Black"/>
                <a:cs typeface="Arial Black"/>
              </a:rPr>
              <a:t>Warfare</a:t>
            </a:r>
            <a:r>
              <a:rPr dirty="0" sz="2100" spc="-165">
                <a:solidFill>
                  <a:srgbClr val="46546F"/>
                </a:solidFill>
                <a:latin typeface="Arial Black"/>
                <a:cs typeface="Arial Black"/>
              </a:rPr>
              <a:t> </a:t>
            </a:r>
            <a:r>
              <a:rPr dirty="0" sz="2100" spc="-10">
                <a:solidFill>
                  <a:srgbClr val="46546F"/>
                </a:solidFill>
                <a:latin typeface="Arial Black"/>
                <a:cs typeface="Arial Black"/>
              </a:rPr>
              <a:t>(2025)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950" spc="-420">
                <a:solidFill>
                  <a:srgbClr val="46546F"/>
                </a:solidFill>
                <a:latin typeface="Arial Black"/>
                <a:cs typeface="Arial Black"/>
              </a:rPr>
              <a:t>&lt;</a:t>
            </a:r>
            <a:r>
              <a:rPr dirty="0" sz="2200" spc="-420">
                <a:solidFill>
                  <a:srgbClr val="46546F"/>
                </a:solidFill>
                <a:latin typeface="Malgun Gothic"/>
                <a:cs typeface="Malgun Gothic"/>
              </a:rPr>
              <a:t>세균전</a:t>
            </a:r>
            <a:r>
              <a:rPr dirty="0" sz="1950" spc="-420">
                <a:solidFill>
                  <a:srgbClr val="46546F"/>
                </a:solidFill>
                <a:latin typeface="Verdana"/>
                <a:cs typeface="Verdana"/>
              </a:rPr>
              <a:t>&gt;</a:t>
            </a:r>
            <a:r>
              <a:rPr dirty="0" sz="2200" spc="-420">
                <a:solidFill>
                  <a:srgbClr val="46546F"/>
                </a:solidFill>
                <a:latin typeface="Malgun Gothic"/>
                <a:cs typeface="Malgun Gothic"/>
              </a:rPr>
              <a:t>을</a:t>
            </a:r>
            <a:r>
              <a:rPr dirty="0" sz="2200" spc="-29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참고한</a:t>
            </a:r>
            <a:r>
              <a:rPr dirty="0" sz="220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멀티</a:t>
            </a:r>
            <a:r>
              <a:rPr dirty="0" sz="2200" spc="-29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45">
                <a:solidFill>
                  <a:srgbClr val="46546F"/>
                </a:solidFill>
                <a:latin typeface="Malgun Gothic"/>
                <a:cs typeface="Malgun Gothic"/>
              </a:rPr>
              <a:t>보드게임</a:t>
            </a:r>
            <a:endParaRPr sz="2200">
              <a:latin typeface="Malgun Gothic"/>
              <a:cs typeface="Malgun Gothic"/>
            </a:endParaRPr>
          </a:p>
          <a:p>
            <a:pPr marL="73025">
              <a:lnSpc>
                <a:spcPct val="100000"/>
              </a:lnSpc>
              <a:spcBef>
                <a:spcPts val="475"/>
              </a:spcBef>
            </a:pPr>
            <a:r>
              <a:rPr dirty="0" sz="1950">
                <a:solidFill>
                  <a:srgbClr val="46546F"/>
                </a:solidFill>
                <a:latin typeface="Verdana"/>
                <a:cs typeface="Verdana"/>
              </a:rPr>
              <a:t>Netcode</a:t>
            </a:r>
            <a:r>
              <a:rPr dirty="0" sz="1950" spc="-1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기반</a:t>
            </a:r>
            <a:r>
              <a:rPr dirty="0" sz="220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멀티</a:t>
            </a:r>
            <a:r>
              <a:rPr dirty="0" sz="220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25">
                <a:solidFill>
                  <a:srgbClr val="46546F"/>
                </a:solidFill>
                <a:latin typeface="Malgun Gothic"/>
                <a:cs typeface="Malgun Gothic"/>
              </a:rPr>
              <a:t>플레이</a:t>
            </a:r>
            <a:r>
              <a:rPr dirty="0" sz="2200" spc="-28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200" spc="-450">
                <a:solidFill>
                  <a:srgbClr val="46546F"/>
                </a:solidFill>
                <a:latin typeface="Malgun Gothic"/>
                <a:cs typeface="Malgun Gothic"/>
              </a:rPr>
              <a:t>지원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854687" y="8247539"/>
            <a:ext cx="203898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2550" spc="-46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플레이</a:t>
            </a:r>
            <a:r>
              <a:rPr dirty="0" u="heavy" sz="2550" spc="-34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 </a:t>
            </a:r>
            <a:r>
              <a:rPr dirty="0" u="heavy" sz="2550" spc="-46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영상</a:t>
            </a:r>
            <a:r>
              <a:rPr dirty="0" u="heavy" sz="2550" spc="-335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 </a:t>
            </a:r>
            <a:r>
              <a:rPr dirty="0" u="heavy" sz="2550" spc="-490">
                <a:solidFill>
                  <a:srgbClr val="46546F"/>
                </a:solidFill>
                <a:uFill>
                  <a:solidFill>
                    <a:srgbClr val="46546F"/>
                  </a:solidFill>
                </a:uFill>
                <a:latin typeface="Malgun Gothic"/>
                <a:cs typeface="Malgun Gothic"/>
                <a:hlinkClick r:id="rId12"/>
              </a:rPr>
              <a:t>링크</a:t>
            </a:r>
            <a:endParaRPr sz="25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7208" y="4255617"/>
            <a:ext cx="4603115" cy="124269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교내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게임컨텐츠제작대회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5" b="1">
                <a:solidFill>
                  <a:srgbClr val="46546F"/>
                </a:solidFill>
                <a:latin typeface="Malgun Gothic"/>
                <a:cs typeface="Malgun Gothic"/>
              </a:rPr>
              <a:t>은상</a:t>
            </a:r>
            <a:endParaRPr sz="32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2900" spc="-175">
                <a:solidFill>
                  <a:srgbClr val="46546F"/>
                </a:solidFill>
                <a:latin typeface="Arial Black"/>
                <a:cs typeface="Arial Black"/>
              </a:rPr>
              <a:t>(2024,</a:t>
            </a:r>
            <a:r>
              <a:rPr dirty="0" sz="2900" spc="-245">
                <a:solidFill>
                  <a:srgbClr val="46546F"/>
                </a:solidFill>
                <a:latin typeface="Arial Black"/>
                <a:cs typeface="Arial Black"/>
              </a:rPr>
              <a:t> </a:t>
            </a:r>
            <a:r>
              <a:rPr dirty="0" sz="2900" spc="-20">
                <a:solidFill>
                  <a:srgbClr val="46546F"/>
                </a:solidFill>
                <a:latin typeface="Arial Black"/>
                <a:cs typeface="Arial Black"/>
              </a:rPr>
              <a:t>2025)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80"/>
              <a:t>수상</a:t>
            </a:r>
            <a:r>
              <a:rPr dirty="0" spc="-815"/>
              <a:t> </a:t>
            </a:r>
            <a:r>
              <a:rPr dirty="0" spc="-1075"/>
              <a:t>및</a:t>
            </a:r>
            <a:r>
              <a:rPr dirty="0" spc="-805"/>
              <a:t> </a:t>
            </a:r>
            <a:r>
              <a:rPr dirty="0" spc="-1115"/>
              <a:t>활동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54749" y="852549"/>
            <a:ext cx="22269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25">
                <a:solidFill>
                  <a:srgbClr val="46546F"/>
                </a:solidFill>
                <a:latin typeface="Calibri"/>
                <a:cs typeface="Calibri"/>
              </a:rPr>
              <a:t>WORK</a:t>
            </a:r>
            <a:r>
              <a:rPr dirty="0" sz="2000">
                <a:solidFill>
                  <a:srgbClr val="46546F"/>
                </a:solidFill>
                <a:latin typeface="Calibri"/>
                <a:cs typeface="Calibri"/>
              </a:rPr>
              <a:t> </a:t>
            </a:r>
            <a:r>
              <a:rPr dirty="0" sz="2000" spc="100">
                <a:solidFill>
                  <a:srgbClr val="46546F"/>
                </a:solidFill>
                <a:latin typeface="Calibri"/>
                <a:cs typeface="Calibri"/>
              </a:rPr>
              <a:t>EXPERIENCE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66881" y="2504320"/>
            <a:ext cx="16554450" cy="0"/>
          </a:xfrm>
          <a:custGeom>
            <a:avLst/>
            <a:gdLst/>
            <a:ahLst/>
            <a:cxnLst/>
            <a:rect l="l" t="t" r="r" b="b"/>
            <a:pathLst>
              <a:path w="16554450" h="0">
                <a:moveTo>
                  <a:pt x="0" y="0"/>
                </a:moveTo>
                <a:lnTo>
                  <a:pt x="1655425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23" y="6260911"/>
            <a:ext cx="123825" cy="1238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001344" y="6013079"/>
            <a:ext cx="5160645" cy="525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 spc="-35">
                <a:solidFill>
                  <a:srgbClr val="46546F"/>
                </a:solidFill>
                <a:latin typeface="Verdana"/>
                <a:cs typeface="Verdana"/>
              </a:rPr>
              <a:t>Unity</a:t>
            </a:r>
            <a:r>
              <a:rPr dirty="0" sz="2900" spc="-310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기반</a:t>
            </a:r>
            <a:r>
              <a:rPr dirty="0" sz="3250" spc="-42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게임</a:t>
            </a:r>
            <a:r>
              <a:rPr dirty="0" sz="3250" spc="-42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컨텐츠</a:t>
            </a:r>
            <a:r>
              <a:rPr dirty="0" sz="3250" spc="-425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제작</a:t>
            </a:r>
            <a:r>
              <a:rPr dirty="0" sz="3250" spc="-42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5">
                <a:solidFill>
                  <a:srgbClr val="46546F"/>
                </a:solidFill>
                <a:latin typeface="Malgun Gothic"/>
                <a:cs typeface="Malgun Gothic"/>
              </a:rPr>
              <a:t>대회</a:t>
            </a:r>
            <a:endParaRPr sz="325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755949" y="4320332"/>
            <a:ext cx="3500120" cy="1187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4480" marR="5080" indent="-272415">
              <a:lnSpc>
                <a:spcPct val="117300"/>
              </a:lnSpc>
              <a:spcBef>
                <a:spcPts val="95"/>
              </a:spcBef>
            </a:pP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교내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00" b="1">
                <a:solidFill>
                  <a:srgbClr val="46546F"/>
                </a:solidFill>
                <a:latin typeface="Malgun Gothic"/>
                <a:cs typeface="Malgun Gothic"/>
              </a:rPr>
              <a:t>생태전환프로젝트 </a:t>
            </a: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공모전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은상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2900" spc="-10">
                <a:solidFill>
                  <a:srgbClr val="46546F"/>
                </a:solidFill>
                <a:latin typeface="Arial Black"/>
                <a:cs typeface="Arial Black"/>
              </a:rPr>
              <a:t>(2025)</a:t>
            </a:r>
            <a:endParaRPr sz="2900">
              <a:latin typeface="Arial Black"/>
              <a:cs typeface="Arial Black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1113" y="6253261"/>
            <a:ext cx="123825" cy="12382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243964" y="6005429"/>
            <a:ext cx="4790440" cy="525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생태전환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주제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컨텐츠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제작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5">
                <a:solidFill>
                  <a:srgbClr val="46546F"/>
                </a:solidFill>
                <a:latin typeface="Malgun Gothic"/>
                <a:cs typeface="Malgun Gothic"/>
              </a:rPr>
              <a:t>대회</a:t>
            </a:r>
            <a:endParaRPr sz="3250">
              <a:latin typeface="Malgun Gothic"/>
              <a:cs typeface="Malgun Gothic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7357" y="5970406"/>
            <a:ext cx="123825" cy="123825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755779" y="4255617"/>
            <a:ext cx="5028565" cy="257302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미래유망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사업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 b="1">
                <a:solidFill>
                  <a:srgbClr val="46546F"/>
                </a:solidFill>
                <a:latin typeface="Malgun Gothic"/>
                <a:cs typeface="Malgun Gothic"/>
              </a:rPr>
              <a:t>최종평가</a:t>
            </a:r>
            <a:r>
              <a:rPr dirty="0" sz="3250" spc="-45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0" b="1">
                <a:solidFill>
                  <a:srgbClr val="46546F"/>
                </a:solidFill>
                <a:latin typeface="Malgun Gothic"/>
                <a:cs typeface="Malgun Gothic"/>
              </a:rPr>
              <a:t>최우수상</a:t>
            </a:r>
            <a:endParaRPr sz="32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2900" spc="-175">
                <a:solidFill>
                  <a:srgbClr val="46546F"/>
                </a:solidFill>
                <a:latin typeface="Arial Black"/>
                <a:cs typeface="Arial Black"/>
              </a:rPr>
              <a:t>(2024,</a:t>
            </a:r>
            <a:r>
              <a:rPr dirty="0" sz="2900" spc="-245">
                <a:solidFill>
                  <a:srgbClr val="46546F"/>
                </a:solidFill>
                <a:latin typeface="Arial Black"/>
                <a:cs typeface="Arial Black"/>
              </a:rPr>
              <a:t> </a:t>
            </a:r>
            <a:r>
              <a:rPr dirty="0" sz="2900" spc="-20">
                <a:solidFill>
                  <a:srgbClr val="46546F"/>
                </a:solidFill>
                <a:latin typeface="Arial Black"/>
                <a:cs typeface="Arial Black"/>
              </a:rPr>
              <a:t>2025)</a:t>
            </a:r>
            <a:endParaRPr sz="2900">
              <a:latin typeface="Arial Black"/>
              <a:cs typeface="Arial Black"/>
            </a:endParaRPr>
          </a:p>
          <a:p>
            <a:pPr marL="1686560" marR="427355" indent="-942340">
              <a:lnSpc>
                <a:spcPct val="117300"/>
              </a:lnSpc>
              <a:spcBef>
                <a:spcPts val="1315"/>
              </a:spcBef>
            </a:pPr>
            <a:r>
              <a:rPr dirty="0" sz="2900" spc="-35">
                <a:solidFill>
                  <a:srgbClr val="46546F"/>
                </a:solidFill>
                <a:latin typeface="Verdana"/>
                <a:cs typeface="Verdana"/>
              </a:rPr>
              <a:t>Unity</a:t>
            </a:r>
            <a:r>
              <a:rPr dirty="0" sz="2900" spc="-2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기반</a:t>
            </a:r>
            <a:r>
              <a:rPr dirty="0" sz="3250" spc="-409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00">
                <a:solidFill>
                  <a:srgbClr val="46546F"/>
                </a:solidFill>
                <a:latin typeface="Malgun Gothic"/>
                <a:cs typeface="Malgun Gothic"/>
              </a:rPr>
              <a:t>게임프로젝트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제작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85">
                <a:solidFill>
                  <a:srgbClr val="46546F"/>
                </a:solidFill>
                <a:latin typeface="Malgun Gothic"/>
                <a:cs typeface="Malgun Gothic"/>
              </a:rPr>
              <a:t>및</a:t>
            </a:r>
            <a:r>
              <a:rPr dirty="0" sz="3250" spc="-434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5">
                <a:solidFill>
                  <a:srgbClr val="46546F"/>
                </a:solidFill>
                <a:latin typeface="Malgun Gothic"/>
                <a:cs typeface="Malgun Gothic"/>
              </a:rPr>
              <a:t>발표</a:t>
            </a:r>
            <a:endParaRPr sz="3250">
              <a:latin typeface="Malgun Gothic"/>
              <a:cs typeface="Malgun Gothic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4105" y="7827004"/>
            <a:ext cx="123825" cy="1238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4105" y="8408029"/>
            <a:ext cx="123825" cy="12382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4105" y="8989054"/>
            <a:ext cx="123825" cy="12382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6553728" y="7497475"/>
            <a:ext cx="5806440" cy="1768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7300"/>
              </a:lnSpc>
              <a:spcBef>
                <a:spcPts val="95"/>
              </a:spcBef>
            </a:pP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교내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40">
                <a:solidFill>
                  <a:srgbClr val="46546F"/>
                </a:solidFill>
                <a:latin typeface="Malgun Gothic"/>
                <a:cs typeface="Malgun Gothic"/>
              </a:rPr>
              <a:t>축제위원회</a:t>
            </a:r>
            <a:r>
              <a:rPr dirty="0" sz="2900" spc="-540">
                <a:solidFill>
                  <a:srgbClr val="46546F"/>
                </a:solidFill>
                <a:latin typeface="Verdana"/>
                <a:cs typeface="Verdana"/>
              </a:rPr>
              <a:t>,</a:t>
            </a:r>
            <a:r>
              <a:rPr dirty="0" sz="2900" spc="-30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홍보대사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5">
                <a:solidFill>
                  <a:srgbClr val="46546F"/>
                </a:solidFill>
                <a:latin typeface="Malgun Gothic"/>
                <a:cs typeface="Malgun Gothic"/>
              </a:rPr>
              <a:t>활동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미래유망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연계사업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게임제작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교육</a:t>
            </a:r>
            <a:r>
              <a:rPr dirty="0" sz="3250" spc="-43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5">
                <a:solidFill>
                  <a:srgbClr val="46546F"/>
                </a:solidFill>
                <a:latin typeface="Malgun Gothic"/>
                <a:cs typeface="Malgun Gothic"/>
              </a:rPr>
              <a:t>이수 </a:t>
            </a:r>
            <a:r>
              <a:rPr dirty="0" sz="2900" spc="-125">
                <a:solidFill>
                  <a:srgbClr val="46546F"/>
                </a:solidFill>
                <a:latin typeface="Verdana"/>
                <a:cs typeface="Verdana"/>
              </a:rPr>
              <a:t>2025</a:t>
            </a:r>
            <a:r>
              <a:rPr dirty="0" sz="2900" spc="-295">
                <a:solidFill>
                  <a:srgbClr val="46546F"/>
                </a:solidFill>
                <a:latin typeface="Verdana"/>
                <a:cs typeface="Verdana"/>
              </a:rPr>
              <a:t> </a:t>
            </a:r>
            <a:r>
              <a:rPr dirty="0" sz="3250" spc="-590">
                <a:solidFill>
                  <a:srgbClr val="46546F"/>
                </a:solidFill>
                <a:latin typeface="Malgun Gothic"/>
                <a:cs typeface="Malgun Gothic"/>
              </a:rPr>
              <a:t>지방기능경기대회</a:t>
            </a:r>
            <a:r>
              <a:rPr dirty="0" sz="3250" spc="-420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3250" spc="-615">
                <a:solidFill>
                  <a:srgbClr val="46546F"/>
                </a:solidFill>
                <a:latin typeface="Malgun Gothic"/>
                <a:cs typeface="Malgun Gothic"/>
              </a:rPr>
              <a:t>참여</a:t>
            </a:r>
            <a:endParaRPr sz="32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48994" y="4643907"/>
            <a:ext cx="2962910" cy="1231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900" spc="-1505" b="1">
                <a:solidFill>
                  <a:srgbClr val="46546F"/>
                </a:solidFill>
                <a:latin typeface="Malgun Gothic"/>
                <a:cs typeface="Malgun Gothic"/>
              </a:rPr>
              <a:t>김</a:t>
            </a:r>
            <a:r>
              <a:rPr dirty="0" sz="7900" spc="-875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7900" spc="-1505" b="1">
                <a:solidFill>
                  <a:srgbClr val="46546F"/>
                </a:solidFill>
                <a:latin typeface="Malgun Gothic"/>
                <a:cs typeface="Malgun Gothic"/>
              </a:rPr>
              <a:t>희</a:t>
            </a:r>
            <a:r>
              <a:rPr dirty="0" sz="7900" spc="-869" b="1">
                <a:solidFill>
                  <a:srgbClr val="46546F"/>
                </a:solidFill>
                <a:latin typeface="Malgun Gothic"/>
                <a:cs typeface="Malgun Gothic"/>
              </a:rPr>
              <a:t> </a:t>
            </a:r>
            <a:r>
              <a:rPr dirty="0" sz="7900" spc="-1555" b="1">
                <a:solidFill>
                  <a:srgbClr val="46546F"/>
                </a:solidFill>
                <a:latin typeface="Malgun Gothic"/>
                <a:cs typeface="Malgun Gothic"/>
              </a:rPr>
              <a:t>수</a:t>
            </a:r>
            <a:endParaRPr sz="79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028700" y="6829553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 h="0">
                <a:moveTo>
                  <a:pt x="0" y="0"/>
                </a:moveTo>
                <a:lnTo>
                  <a:pt x="16230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548994" y="7651715"/>
            <a:ext cx="2383155" cy="97726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800" spc="155">
                <a:solidFill>
                  <a:srgbClr val="46546F"/>
                </a:solidFill>
                <a:latin typeface="Calibri"/>
                <a:cs typeface="Calibri"/>
              </a:rPr>
              <a:t>SNS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2500" spc="-10">
                <a:solidFill>
                  <a:srgbClr val="46546F"/>
                </a:solidFill>
                <a:latin typeface="Lucida Sans"/>
                <a:cs typeface="Lucida Sans"/>
              </a:rPr>
              <a:t>@rlagmltn0115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74727" y="7651715"/>
            <a:ext cx="2453640" cy="97726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800" spc="-10">
                <a:solidFill>
                  <a:srgbClr val="46546F"/>
                </a:solidFill>
                <a:latin typeface="Calibri"/>
                <a:cs typeface="Calibri"/>
              </a:rPr>
              <a:t>Phone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2500" spc="50">
                <a:solidFill>
                  <a:srgbClr val="46546F"/>
                </a:solidFill>
                <a:latin typeface="Lucida Sans"/>
                <a:cs typeface="Lucida Sans"/>
              </a:rPr>
              <a:t>010-</a:t>
            </a:r>
            <a:r>
              <a:rPr dirty="0" sz="2500">
                <a:solidFill>
                  <a:srgbClr val="46546F"/>
                </a:solidFill>
                <a:latin typeface="Lucida Sans"/>
                <a:cs typeface="Lucida Sans"/>
              </a:rPr>
              <a:t>9649-</a:t>
            </a:r>
            <a:r>
              <a:rPr dirty="0" sz="2500" spc="-45">
                <a:solidFill>
                  <a:srgbClr val="46546F"/>
                </a:solidFill>
                <a:latin typeface="Lucida Sans"/>
                <a:cs typeface="Lucida Sans"/>
              </a:rPr>
              <a:t>6391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565450" y="7651715"/>
            <a:ext cx="3625850" cy="97726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800" spc="-10">
                <a:solidFill>
                  <a:srgbClr val="46546F"/>
                </a:solidFill>
                <a:latin typeface="Calibri"/>
                <a:cs typeface="Calibri"/>
              </a:rPr>
              <a:t>Email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2500" spc="-10">
                <a:solidFill>
                  <a:srgbClr val="46546F"/>
                </a:solidFill>
                <a:latin typeface="Lucida Sans"/>
                <a:cs typeface="Lucida Sans"/>
                <a:hlinkClick r:id="rId2"/>
              </a:rPr>
              <a:t>tndnjf6391@gmail.com</a:t>
            </a:r>
            <a:endParaRPr sz="25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546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김희수</dc:creator>
  <cp:keywords>DAHFrAz9Cfw,BAGitSDJDWQ,0</cp:keywords>
  <dc:title>아이보리 다크 블루 미니멀한 포트폴리오 프레젠테이션</dc:title>
  <dcterms:created xsi:type="dcterms:W3CDTF">2026-04-10T06:37:18Z</dcterms:created>
  <dcterms:modified xsi:type="dcterms:W3CDTF">2026-04-10T06:37:18Z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2026-04-10T00:00:00Z</vt:filetime>
  </property>
  <property fmtid="{D5CDD505-2E9C-101B-9397-08002B2CF9AE}" pid="5" name="Producer">
    <vt:lpwstr>3-Heights(TM) PDF Security Shell 4.8.25.2 (http://www.pdf-tools.com)</vt:lpwstr>
  </property>
</Properties>
</file>