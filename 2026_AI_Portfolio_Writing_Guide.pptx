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F5F5D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7562850" cy="2266950"/>
          </a:xfrm>
          <a:custGeom>
            <a:avLst/>
            <a:gdLst/>
            <a:ahLst/>
            <a:cxnLst/>
            <a:rect l="l" t="t" r="r" b="b"/>
            <a:pathLst>
              <a:path w="7562850" h="2266950">
                <a:moveTo>
                  <a:pt x="7562849" y="2266949"/>
                </a:moveTo>
                <a:lnTo>
                  <a:pt x="0" y="2266949"/>
                </a:lnTo>
                <a:lnTo>
                  <a:pt x="0" y="0"/>
                </a:lnTo>
                <a:lnTo>
                  <a:pt x="7562849" y="0"/>
                </a:lnTo>
                <a:lnTo>
                  <a:pt x="7562849" y="2266949"/>
                </a:lnTo>
                <a:close/>
              </a:path>
            </a:pathLst>
          </a:custGeom>
          <a:solidFill>
            <a:srgbClr val="201D1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9712" y="360606"/>
            <a:ext cx="313500" cy="31242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438508" y="0"/>
            <a:ext cx="6124575" cy="2266950"/>
          </a:xfrm>
          <a:custGeom>
            <a:avLst/>
            <a:gdLst/>
            <a:ahLst/>
            <a:cxnLst/>
            <a:rect l="l" t="t" r="r" b="b"/>
            <a:pathLst>
              <a:path w="6124575" h="2266950">
                <a:moveTo>
                  <a:pt x="39061" y="2266949"/>
                </a:moveTo>
                <a:lnTo>
                  <a:pt x="0" y="2266949"/>
                </a:lnTo>
                <a:lnTo>
                  <a:pt x="2266949" y="0"/>
                </a:lnTo>
                <a:lnTo>
                  <a:pt x="2306016" y="0"/>
                </a:lnTo>
                <a:lnTo>
                  <a:pt x="39061" y="2266949"/>
                </a:lnTo>
                <a:close/>
              </a:path>
              <a:path w="6124575" h="2266950">
                <a:moveTo>
                  <a:pt x="82945" y="2266949"/>
                </a:moveTo>
                <a:lnTo>
                  <a:pt x="42552" y="2266949"/>
                </a:lnTo>
                <a:lnTo>
                  <a:pt x="2460634" y="0"/>
                </a:lnTo>
                <a:lnTo>
                  <a:pt x="2501027" y="0"/>
                </a:lnTo>
                <a:lnTo>
                  <a:pt x="82945" y="2266949"/>
                </a:lnTo>
                <a:close/>
              </a:path>
              <a:path w="6124575" h="2266950">
                <a:moveTo>
                  <a:pt x="133119" y="2266949"/>
                </a:moveTo>
                <a:lnTo>
                  <a:pt x="91165" y="2266949"/>
                </a:lnTo>
                <a:lnTo>
                  <a:pt x="2681970" y="0"/>
                </a:lnTo>
                <a:lnTo>
                  <a:pt x="2723915" y="0"/>
                </a:lnTo>
                <a:lnTo>
                  <a:pt x="133119" y="2266949"/>
                </a:lnTo>
                <a:close/>
              </a:path>
              <a:path w="6124575" h="2266950">
                <a:moveTo>
                  <a:pt x="191044" y="2266949"/>
                </a:moveTo>
                <a:lnTo>
                  <a:pt x="147217" y="2266949"/>
                </a:lnTo>
                <a:lnTo>
                  <a:pt x="2937314" y="0"/>
                </a:lnTo>
                <a:lnTo>
                  <a:pt x="2981141" y="0"/>
                </a:lnTo>
                <a:lnTo>
                  <a:pt x="191044" y="2266949"/>
                </a:lnTo>
                <a:close/>
              </a:path>
              <a:path w="6124575" h="2266950">
                <a:moveTo>
                  <a:pt x="258646" y="2266949"/>
                </a:moveTo>
                <a:lnTo>
                  <a:pt x="212604" y="2266949"/>
                </a:lnTo>
                <a:lnTo>
                  <a:pt x="3235211" y="0"/>
                </a:lnTo>
                <a:lnTo>
                  <a:pt x="3281241" y="0"/>
                </a:lnTo>
                <a:lnTo>
                  <a:pt x="258646" y="2266949"/>
                </a:lnTo>
                <a:close/>
              </a:path>
              <a:path w="6124575" h="2266950">
                <a:moveTo>
                  <a:pt x="338576" y="2266949"/>
                </a:moveTo>
                <a:lnTo>
                  <a:pt x="289824" y="2266949"/>
                </a:lnTo>
                <a:lnTo>
                  <a:pt x="3587202" y="0"/>
                </a:lnTo>
                <a:lnTo>
                  <a:pt x="3635965" y="0"/>
                </a:lnTo>
                <a:lnTo>
                  <a:pt x="338576" y="2266949"/>
                </a:lnTo>
                <a:close/>
              </a:path>
              <a:path w="6124575" h="2266950">
                <a:moveTo>
                  <a:pt x="434570" y="2266949"/>
                </a:moveTo>
                <a:lnTo>
                  <a:pt x="382422" y="2266949"/>
                </a:lnTo>
                <a:lnTo>
                  <a:pt x="4009550" y="0"/>
                </a:lnTo>
                <a:lnTo>
                  <a:pt x="4061693" y="0"/>
                </a:lnTo>
                <a:lnTo>
                  <a:pt x="434570" y="2266949"/>
                </a:lnTo>
                <a:close/>
              </a:path>
              <a:path w="6124575" h="2266950">
                <a:moveTo>
                  <a:pt x="551931" y="2266949"/>
                </a:moveTo>
                <a:lnTo>
                  <a:pt x="495569" y="2266949"/>
                </a:lnTo>
                <a:lnTo>
                  <a:pt x="4525696" y="0"/>
                </a:lnTo>
                <a:lnTo>
                  <a:pt x="4582054" y="0"/>
                </a:lnTo>
                <a:lnTo>
                  <a:pt x="551931" y="2266949"/>
                </a:lnTo>
                <a:close/>
              </a:path>
              <a:path w="6124575" h="2266950">
                <a:moveTo>
                  <a:pt x="698692" y="2266949"/>
                </a:moveTo>
                <a:lnTo>
                  <a:pt x="636911" y="2266949"/>
                </a:lnTo>
                <a:lnTo>
                  <a:pt x="5170811" y="0"/>
                </a:lnTo>
                <a:lnTo>
                  <a:pt x="5232602" y="0"/>
                </a:lnTo>
                <a:lnTo>
                  <a:pt x="698692" y="2266949"/>
                </a:lnTo>
                <a:close/>
              </a:path>
              <a:path w="6124575" h="2266950">
                <a:moveTo>
                  <a:pt x="887462" y="2266949"/>
                </a:moveTo>
                <a:lnTo>
                  <a:pt x="818561" y="2266949"/>
                </a:lnTo>
                <a:lnTo>
                  <a:pt x="6000153" y="0"/>
                </a:lnTo>
                <a:lnTo>
                  <a:pt x="6069064" y="0"/>
                </a:lnTo>
                <a:lnTo>
                  <a:pt x="887462" y="2266949"/>
                </a:lnTo>
                <a:close/>
              </a:path>
              <a:path w="6124575" h="2266950">
                <a:moveTo>
                  <a:pt x="1139331" y="2266949"/>
                </a:moveTo>
                <a:lnTo>
                  <a:pt x="1060613" y="2266949"/>
                </a:lnTo>
                <a:lnTo>
                  <a:pt x="6124340" y="368059"/>
                </a:lnTo>
                <a:lnTo>
                  <a:pt x="6124340" y="397569"/>
                </a:lnTo>
                <a:lnTo>
                  <a:pt x="1139331" y="2266949"/>
                </a:lnTo>
                <a:close/>
              </a:path>
              <a:path w="6124575" h="2266950">
                <a:moveTo>
                  <a:pt x="1492017" y="2266949"/>
                </a:moveTo>
                <a:lnTo>
                  <a:pt x="1399435" y="2266949"/>
                </a:lnTo>
                <a:lnTo>
                  <a:pt x="6124340" y="790422"/>
                </a:lnTo>
                <a:lnTo>
                  <a:pt x="6124340" y="819351"/>
                </a:lnTo>
                <a:lnTo>
                  <a:pt x="1492017" y="2266949"/>
                </a:lnTo>
                <a:close/>
              </a:path>
              <a:path w="6124575" h="2266950">
                <a:moveTo>
                  <a:pt x="2021282" y="2266949"/>
                </a:moveTo>
                <a:lnTo>
                  <a:pt x="1907408" y="2266949"/>
                </a:lnTo>
                <a:lnTo>
                  <a:pt x="6124340" y="1212716"/>
                </a:lnTo>
                <a:lnTo>
                  <a:pt x="6124340" y="1241187"/>
                </a:lnTo>
                <a:lnTo>
                  <a:pt x="2021282" y="2266949"/>
                </a:lnTo>
                <a:close/>
              </a:path>
              <a:path w="6124575" h="2266950">
                <a:moveTo>
                  <a:pt x="2903610" y="2266949"/>
                </a:moveTo>
                <a:lnTo>
                  <a:pt x="2753780" y="2266949"/>
                </a:lnTo>
                <a:lnTo>
                  <a:pt x="6124340" y="1634969"/>
                </a:lnTo>
                <a:lnTo>
                  <a:pt x="6124340" y="1663065"/>
                </a:lnTo>
                <a:lnTo>
                  <a:pt x="2903610" y="2266949"/>
                </a:lnTo>
                <a:close/>
              </a:path>
              <a:path w="6124575" h="2266950">
                <a:moveTo>
                  <a:pt x="4668752" y="2266949"/>
                </a:moveTo>
                <a:lnTo>
                  <a:pt x="4446053" y="2266949"/>
                </a:lnTo>
                <a:lnTo>
                  <a:pt x="6124340" y="2057166"/>
                </a:lnTo>
                <a:lnTo>
                  <a:pt x="6124340" y="2085000"/>
                </a:lnTo>
                <a:lnTo>
                  <a:pt x="4668752" y="2266949"/>
                </a:lnTo>
                <a:close/>
              </a:path>
            </a:pathLst>
          </a:custGeom>
          <a:solidFill>
            <a:srgbClr val="3A2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F5F5D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F5F5D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F5F5D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50037" y="502449"/>
            <a:ext cx="6863080" cy="713740"/>
          </a:xfrm>
          <a:custGeom>
            <a:avLst/>
            <a:gdLst/>
            <a:ahLst/>
            <a:cxnLst/>
            <a:rect l="l" t="t" r="r" b="b"/>
            <a:pathLst>
              <a:path w="6863080" h="713740">
                <a:moveTo>
                  <a:pt x="6862762" y="0"/>
                </a:moveTo>
                <a:lnTo>
                  <a:pt x="6241910" y="0"/>
                </a:lnTo>
                <a:lnTo>
                  <a:pt x="6237148" y="0"/>
                </a:lnTo>
                <a:lnTo>
                  <a:pt x="0" y="0"/>
                </a:lnTo>
                <a:lnTo>
                  <a:pt x="0" y="713333"/>
                </a:lnTo>
                <a:lnTo>
                  <a:pt x="6237148" y="713333"/>
                </a:lnTo>
                <a:lnTo>
                  <a:pt x="6241910" y="713333"/>
                </a:lnTo>
                <a:lnTo>
                  <a:pt x="6862762" y="713333"/>
                </a:lnTo>
                <a:lnTo>
                  <a:pt x="6862762" y="0"/>
                </a:lnTo>
                <a:close/>
              </a:path>
            </a:pathLst>
          </a:custGeom>
          <a:solidFill>
            <a:srgbClr val="F5F5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6446" y="1067974"/>
            <a:ext cx="5782945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F5F5D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5"/>
              <a:t>Unity</a:t>
            </a:r>
            <a:r>
              <a:rPr dirty="0" spc="-195"/>
              <a:t> </a:t>
            </a:r>
            <a:r>
              <a:rPr dirty="0" spc="-190"/>
              <a:t>Game</a:t>
            </a:r>
            <a:r>
              <a:rPr dirty="0" spc="-100"/>
              <a:t> </a:t>
            </a:r>
            <a:r>
              <a:rPr dirty="0" spc="-40"/>
              <a:t>Develop</a:t>
            </a:r>
            <a:r>
              <a:rPr dirty="0" spc="-150"/>
              <a:t> </a:t>
            </a:r>
            <a:r>
              <a:rPr dirty="0" spc="-90"/>
              <a:t>Syllabus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99490" y="330055"/>
            <a:ext cx="445134" cy="34861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12700" marR="5080">
              <a:lnSpc>
                <a:spcPct val="74400"/>
              </a:lnSpc>
              <a:spcBef>
                <a:spcPts val="495"/>
              </a:spcBef>
            </a:pPr>
            <a:r>
              <a:rPr dirty="0" sz="1200" spc="-10">
                <a:solidFill>
                  <a:srgbClr val="F5F5DB"/>
                </a:solidFill>
                <a:latin typeface="Arial"/>
                <a:cs typeface="Arial"/>
              </a:rPr>
              <a:t>Jeong </a:t>
            </a:r>
            <a:r>
              <a:rPr dirty="0" sz="1200" spc="-30">
                <a:solidFill>
                  <a:srgbClr val="F5F5DB"/>
                </a:solidFill>
                <a:latin typeface="Arial"/>
                <a:cs typeface="Arial"/>
              </a:rPr>
              <a:t>Hyeok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50037" y="2893224"/>
            <a:ext cx="6863080" cy="713740"/>
          </a:xfrm>
          <a:custGeom>
            <a:avLst/>
            <a:gdLst/>
            <a:ahLst/>
            <a:cxnLst/>
            <a:rect l="l" t="t" r="r" b="b"/>
            <a:pathLst>
              <a:path w="6863080" h="713739">
                <a:moveTo>
                  <a:pt x="6862762" y="0"/>
                </a:moveTo>
                <a:lnTo>
                  <a:pt x="6241910" y="0"/>
                </a:lnTo>
                <a:lnTo>
                  <a:pt x="6237148" y="0"/>
                </a:lnTo>
                <a:lnTo>
                  <a:pt x="0" y="0"/>
                </a:lnTo>
                <a:lnTo>
                  <a:pt x="0" y="713333"/>
                </a:lnTo>
                <a:lnTo>
                  <a:pt x="6237148" y="713333"/>
                </a:lnTo>
                <a:lnTo>
                  <a:pt x="6241910" y="713333"/>
                </a:lnTo>
                <a:lnTo>
                  <a:pt x="6862762" y="713333"/>
                </a:lnTo>
                <a:lnTo>
                  <a:pt x="6862762" y="0"/>
                </a:lnTo>
                <a:close/>
              </a:path>
            </a:pathLst>
          </a:custGeom>
          <a:solidFill>
            <a:srgbClr val="F5F5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350043" y="2893218"/>
            <a:ext cx="6863080" cy="71374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16205">
              <a:lnSpc>
                <a:spcPct val="100000"/>
              </a:lnSpc>
              <a:spcBef>
                <a:spcPts val="865"/>
              </a:spcBef>
            </a:pPr>
            <a:r>
              <a:rPr dirty="0" sz="2750" spc="-75">
                <a:solidFill>
                  <a:srgbClr val="201D1B"/>
                </a:solidFill>
                <a:latin typeface="Arial"/>
                <a:cs typeface="Arial"/>
              </a:rPr>
              <a:t>Executive</a:t>
            </a:r>
            <a:r>
              <a:rPr dirty="0" sz="2750" spc="-40">
                <a:solidFill>
                  <a:srgbClr val="201D1B"/>
                </a:solidFill>
                <a:latin typeface="Arial"/>
                <a:cs typeface="Arial"/>
              </a:rPr>
              <a:t> </a:t>
            </a:r>
            <a:r>
              <a:rPr dirty="0" sz="2750" spc="-10">
                <a:solidFill>
                  <a:srgbClr val="201D1B"/>
                </a:solidFill>
                <a:latin typeface="Arial"/>
                <a:cs typeface="Arial"/>
              </a:rPr>
              <a:t>summary</a:t>
            </a:r>
            <a:endParaRPr sz="2750">
              <a:latin typeface="Arial"/>
              <a:cs typeface="Arial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6743700" y="30956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782" y="304782"/>
                </a:moveTo>
                <a:lnTo>
                  <a:pt x="282994" y="304782"/>
                </a:lnTo>
                <a:lnTo>
                  <a:pt x="282994" y="37191"/>
                </a:lnTo>
                <a:lnTo>
                  <a:pt x="15508" y="304676"/>
                </a:lnTo>
                <a:lnTo>
                  <a:pt x="103" y="289271"/>
                </a:lnTo>
                <a:lnTo>
                  <a:pt x="267590" y="21787"/>
                </a:lnTo>
                <a:lnTo>
                  <a:pt x="0" y="21787"/>
                </a:lnTo>
                <a:lnTo>
                  <a:pt x="0" y="0"/>
                </a:lnTo>
                <a:lnTo>
                  <a:pt x="304782" y="0"/>
                </a:lnTo>
                <a:lnTo>
                  <a:pt x="304782" y="304782"/>
                </a:lnTo>
                <a:close/>
              </a:path>
            </a:pathLst>
          </a:custGeom>
          <a:solidFill>
            <a:srgbClr val="201D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339724" y="3704860"/>
            <a:ext cx="6871970" cy="91059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>
              <a:lnSpc>
                <a:spcPct val="121500"/>
              </a:lnSpc>
              <a:spcBef>
                <a:spcPts val="65"/>
              </a:spcBef>
            </a:pPr>
            <a:r>
              <a:rPr dirty="0" sz="1200" spc="165">
                <a:latin typeface="한컴 울주 반구대 암각화체"/>
                <a:cs typeface="한컴 울주 반구대 암각화체"/>
              </a:rPr>
              <a:t>최근</a:t>
            </a:r>
            <a:r>
              <a:rPr dirty="0" sz="1200" spc="3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-20">
                <a:latin typeface="Arial"/>
                <a:cs typeface="Arial"/>
              </a:rPr>
              <a:t>AI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 spc="204">
                <a:latin typeface="한컴 울주 반구대 암각화체"/>
                <a:cs typeface="한컴 울주 반구대 암각화체"/>
              </a:rPr>
              <a:t>기술의</a:t>
            </a:r>
            <a:r>
              <a:rPr dirty="0" sz="1200" spc="3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65">
                <a:latin typeface="한컴 울주 반구대 암각화체"/>
                <a:cs typeface="한컴 울주 반구대 암각화체"/>
              </a:rPr>
              <a:t>급속한</a:t>
            </a:r>
            <a:r>
              <a:rPr dirty="0" sz="1200" spc="3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95">
                <a:latin typeface="한컴 울주 반구대 암각화체"/>
                <a:cs typeface="한컴 울주 반구대 암각화체"/>
              </a:rPr>
              <a:t>발전에</a:t>
            </a:r>
            <a:r>
              <a:rPr dirty="0" sz="1200" spc="3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95">
                <a:latin typeface="한컴 울주 반구대 암각화체"/>
                <a:cs typeface="한컴 울주 반구대 암각화체"/>
              </a:rPr>
              <a:t>따라</a:t>
            </a:r>
            <a:r>
              <a:rPr dirty="0" sz="1200" spc="3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75">
                <a:latin typeface="한컴 울주 반구대 암각화체"/>
                <a:cs typeface="한컴 울주 반구대 암각화체"/>
              </a:rPr>
              <a:t>게임</a:t>
            </a:r>
            <a:r>
              <a:rPr dirty="0" sz="1200" spc="3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14">
                <a:latin typeface="한컴 울주 반구대 암각화체"/>
                <a:cs typeface="한컴 울주 반구대 암각화체"/>
              </a:rPr>
              <a:t>산업</a:t>
            </a:r>
            <a:r>
              <a:rPr dirty="0" sz="1200" spc="3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55">
                <a:latin typeface="한컴 울주 반구대 암각화체"/>
                <a:cs typeface="한컴 울주 반구대 암각화체"/>
              </a:rPr>
              <a:t>전반에서도</a:t>
            </a:r>
            <a:r>
              <a:rPr dirty="0" sz="1200" spc="3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-20">
                <a:latin typeface="Arial"/>
                <a:cs typeface="Arial"/>
              </a:rPr>
              <a:t>AI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 spc="145">
                <a:latin typeface="한컴 울주 반구대 암각화체"/>
                <a:cs typeface="한컴 울주 반구대 암각화체"/>
              </a:rPr>
              <a:t>활용</a:t>
            </a:r>
            <a:r>
              <a:rPr dirty="0" sz="1200" spc="3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70">
                <a:latin typeface="한컴 울주 반구대 암각화체"/>
                <a:cs typeface="한컴 울주 반구대 암각화체"/>
              </a:rPr>
              <a:t>역량</a:t>
            </a:r>
            <a:r>
              <a:rPr dirty="0" sz="1200" spc="3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290">
                <a:latin typeface="한컴 울주 반구대 암각화체"/>
                <a:cs typeface="한컴 울주 반구대 암각화체"/>
              </a:rPr>
              <a:t>보유</a:t>
            </a:r>
            <a:r>
              <a:rPr dirty="0" sz="1200" spc="3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200">
                <a:latin typeface="한컴 울주 반구대 암각화체"/>
                <a:cs typeface="한컴 울주 반구대 암각화체"/>
              </a:rPr>
              <a:t>여부가</a:t>
            </a:r>
            <a:r>
              <a:rPr dirty="0" sz="1200" spc="3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25">
                <a:latin typeface="한컴 울주 반구대 암각화체"/>
                <a:cs typeface="한컴 울주 반구대 암각화체"/>
              </a:rPr>
              <a:t>취업</a:t>
            </a:r>
            <a:r>
              <a:rPr dirty="0" sz="1200" spc="3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45">
                <a:latin typeface="한컴 울주 반구대 암각화체"/>
                <a:cs typeface="한컴 울주 반구대 암각화체"/>
              </a:rPr>
              <a:t>경쟁력에</a:t>
            </a:r>
            <a:r>
              <a:rPr dirty="0" sz="1200" spc="3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75">
                <a:latin typeface="한컴 울주 반구대 암각화체"/>
                <a:cs typeface="한컴 울주 반구대 암각화체"/>
              </a:rPr>
              <a:t>중요 </a:t>
            </a:r>
            <a:r>
              <a:rPr dirty="0" sz="1200" spc="65">
                <a:latin typeface="한컴 울주 반구대 암각화체"/>
                <a:cs typeface="한컴 울주 반구대 암각화체"/>
              </a:rPr>
              <a:t>한</a:t>
            </a:r>
            <a:r>
              <a:rPr dirty="0" sz="1200" spc="4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265">
                <a:latin typeface="한컴 울주 반구대 암각화체"/>
                <a:cs typeface="한컴 울주 반구대 암각화체"/>
              </a:rPr>
              <a:t>요소로</a:t>
            </a:r>
            <a:r>
              <a:rPr dirty="0" sz="1200" spc="4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60">
                <a:latin typeface="한컴 울주 반구대 암각화체"/>
                <a:cs typeface="한컴 울주 반구대 암각화체"/>
              </a:rPr>
              <a:t>작용하고</a:t>
            </a:r>
            <a:r>
              <a:rPr dirty="0" sz="1200" spc="4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50">
                <a:latin typeface="한컴 울주 반구대 암각화체"/>
                <a:cs typeface="한컴 울주 반구대 암각화체"/>
              </a:rPr>
              <a:t>있습니다</a:t>
            </a:r>
            <a:r>
              <a:rPr dirty="0" sz="1200" spc="150">
                <a:latin typeface="Microsoft JhengHei"/>
                <a:cs typeface="Microsoft JhengHei"/>
              </a:rPr>
              <a:t>.</a:t>
            </a:r>
            <a:r>
              <a:rPr dirty="0" sz="1200" spc="10">
                <a:latin typeface="Microsoft JhengHei"/>
                <a:cs typeface="Microsoft JhengHei"/>
              </a:rPr>
              <a:t> </a:t>
            </a:r>
            <a:r>
              <a:rPr dirty="0" sz="1200" spc="180">
                <a:latin typeface="한컴 울주 반구대 암각화체"/>
                <a:cs typeface="한컴 울주 반구대 암각화체"/>
              </a:rPr>
              <a:t>이러한</a:t>
            </a:r>
            <a:r>
              <a:rPr dirty="0" sz="1200" spc="4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14">
                <a:latin typeface="한컴 울주 반구대 암각화체"/>
                <a:cs typeface="한컴 울주 반구대 암각화체"/>
              </a:rPr>
              <a:t>산업</a:t>
            </a:r>
            <a:r>
              <a:rPr dirty="0" sz="1200" spc="4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25">
                <a:latin typeface="한컴 울주 반구대 암각화체"/>
                <a:cs typeface="한컴 울주 반구대 암각화체"/>
              </a:rPr>
              <a:t>환경</a:t>
            </a:r>
            <a:r>
              <a:rPr dirty="0" sz="1200" spc="4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85">
                <a:latin typeface="한컴 울주 반구대 암각화체"/>
                <a:cs typeface="한컴 울주 반구대 암각화체"/>
              </a:rPr>
              <a:t>변화에</a:t>
            </a:r>
            <a:r>
              <a:rPr dirty="0" sz="1200" spc="4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05">
                <a:latin typeface="한컴 울주 반구대 암각화체"/>
                <a:cs typeface="한컴 울주 반구대 암각화체"/>
              </a:rPr>
              <a:t>대응하고자</a:t>
            </a:r>
            <a:r>
              <a:rPr dirty="0" sz="1200" spc="105">
                <a:latin typeface="Microsoft JhengHei"/>
                <a:cs typeface="Microsoft JhengHei"/>
              </a:rPr>
              <a:t>,</a:t>
            </a:r>
            <a:r>
              <a:rPr dirty="0" sz="1200" spc="15">
                <a:latin typeface="Microsoft JhengHei"/>
                <a:cs typeface="Microsoft JhengHei"/>
              </a:rPr>
              <a:t> </a:t>
            </a:r>
            <a:r>
              <a:rPr dirty="0" sz="1200" spc="204">
                <a:latin typeface="한컴 울주 반구대 암각화체"/>
                <a:cs typeface="한컴 울주 반구대 암각화체"/>
              </a:rPr>
              <a:t>본</a:t>
            </a:r>
            <a:r>
              <a:rPr dirty="0" sz="1200" spc="4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235">
                <a:latin typeface="한컴 울주 반구대 암각화체"/>
                <a:cs typeface="한컴 울주 반구대 암각화체"/>
              </a:rPr>
              <a:t>교육</a:t>
            </a:r>
            <a:r>
              <a:rPr dirty="0" sz="1200" spc="4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55">
                <a:latin typeface="한컴 울주 반구대 암각화체"/>
                <a:cs typeface="한컴 울주 반구대 암각화체"/>
              </a:rPr>
              <a:t>과정에서는</a:t>
            </a:r>
            <a:r>
              <a:rPr dirty="0" sz="1200" spc="4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204">
                <a:latin typeface="한컴 울주 반구대 암각화체"/>
                <a:cs typeface="한컴 울주 반구대 암각화체"/>
              </a:rPr>
              <a:t>기존의</a:t>
            </a:r>
            <a:r>
              <a:rPr dirty="0" sz="1200" spc="4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-25">
                <a:latin typeface="Arial"/>
                <a:cs typeface="Arial"/>
              </a:rPr>
              <a:t>3D </a:t>
            </a:r>
            <a:r>
              <a:rPr dirty="0" sz="1200">
                <a:latin typeface="Arial"/>
                <a:cs typeface="Arial"/>
              </a:rPr>
              <a:t>Unity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 spc="75">
                <a:latin typeface="한컴 울주 반구대 암각화체"/>
                <a:cs typeface="한컴 울주 반구대 암각화체"/>
              </a:rPr>
              <a:t>개발</a:t>
            </a:r>
            <a:r>
              <a:rPr dirty="0" sz="1200" spc="3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229">
                <a:latin typeface="한컴 울주 반구대 암각화체"/>
                <a:cs typeface="한컴 울주 반구대 암각화체"/>
              </a:rPr>
              <a:t>교육을</a:t>
            </a:r>
            <a:r>
              <a:rPr dirty="0" sz="1200" spc="3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200">
                <a:latin typeface="한컴 울주 반구대 암각화체"/>
                <a:cs typeface="한컴 울주 반구대 암각화체"/>
              </a:rPr>
              <a:t>유지하는</a:t>
            </a:r>
            <a:r>
              <a:rPr dirty="0" sz="1200" spc="4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45">
                <a:latin typeface="한컴 울주 반구대 암각화체"/>
                <a:cs typeface="한컴 울주 반구대 암각화체"/>
              </a:rPr>
              <a:t>동시에</a:t>
            </a:r>
            <a:r>
              <a:rPr dirty="0" sz="1200" spc="3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-20">
                <a:latin typeface="Arial"/>
                <a:cs typeface="Arial"/>
              </a:rPr>
              <a:t>AI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 spc="215">
                <a:latin typeface="한컴 울주 반구대 암각화체"/>
                <a:cs typeface="한컴 울주 반구대 암각화체"/>
              </a:rPr>
              <a:t>기술을</a:t>
            </a:r>
            <a:r>
              <a:rPr dirty="0" sz="1200" spc="4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95">
                <a:latin typeface="한컴 울주 반구대 암각화체"/>
                <a:cs typeface="한컴 울주 반구대 암각화체"/>
              </a:rPr>
              <a:t>적극</a:t>
            </a:r>
            <a:r>
              <a:rPr dirty="0" sz="1200" spc="3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35">
                <a:latin typeface="한컴 울주 반구대 암각화체"/>
                <a:cs typeface="한컴 울주 반구대 암각화체"/>
              </a:rPr>
              <a:t>활용하여</a:t>
            </a:r>
            <a:r>
              <a:rPr dirty="0" sz="1200" spc="3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75">
                <a:latin typeface="한컴 울주 반구대 암각화체"/>
                <a:cs typeface="한컴 울주 반구대 암각화체"/>
              </a:rPr>
              <a:t>게임</a:t>
            </a:r>
            <a:r>
              <a:rPr dirty="0" sz="1200" spc="3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70">
                <a:latin typeface="한컴 울주 반구대 암각화체"/>
                <a:cs typeface="한컴 울주 반구대 암각화체"/>
              </a:rPr>
              <a:t>기획서</a:t>
            </a:r>
            <a:r>
              <a:rPr dirty="0" sz="1200" spc="4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229">
                <a:latin typeface="한컴 울주 반구대 암각화체"/>
                <a:cs typeface="한컴 울주 반구대 암각화체"/>
              </a:rPr>
              <a:t>및</a:t>
            </a:r>
            <a:r>
              <a:rPr dirty="0" sz="1200" spc="3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260">
                <a:latin typeface="한컴 울주 반구대 암각화체"/>
                <a:cs typeface="한컴 울주 반구대 암각화체"/>
              </a:rPr>
              <a:t>포트폴리오</a:t>
            </a:r>
            <a:r>
              <a:rPr dirty="0" sz="1200" spc="3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05">
                <a:latin typeface="한컴 울주 반구대 암각화체"/>
                <a:cs typeface="한컴 울주 반구대 암각화체"/>
              </a:rPr>
              <a:t>제작을</a:t>
            </a:r>
            <a:r>
              <a:rPr dirty="0" sz="1200" spc="4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00">
                <a:latin typeface="한컴 울주 반구대 암각화체"/>
                <a:cs typeface="한컴 울주 반구대 암각화체"/>
              </a:rPr>
              <a:t>병행하 </a:t>
            </a:r>
            <a:r>
              <a:rPr dirty="0" sz="1200" spc="220">
                <a:latin typeface="한컴 울주 반구대 암각화체"/>
                <a:cs typeface="한컴 울주 반구대 암각화체"/>
              </a:rPr>
              <a:t>는</a:t>
            </a:r>
            <a:r>
              <a:rPr dirty="0" sz="1200" spc="4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235">
                <a:latin typeface="한컴 울주 반구대 암각화체"/>
                <a:cs typeface="한컴 울주 반구대 암각화체"/>
              </a:rPr>
              <a:t>교육</a:t>
            </a:r>
            <a:r>
              <a:rPr dirty="0" sz="1200" spc="4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90">
                <a:latin typeface="한컴 울주 반구대 암각화체"/>
                <a:cs typeface="한컴 울주 반구대 암각화체"/>
              </a:rPr>
              <a:t>방식을</a:t>
            </a:r>
            <a:r>
              <a:rPr dirty="0" sz="1200" spc="4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70">
                <a:latin typeface="한컴 울주 반구대 암각화체"/>
                <a:cs typeface="한컴 울주 반구대 암각화체"/>
              </a:rPr>
              <a:t>도입하고자</a:t>
            </a:r>
            <a:r>
              <a:rPr dirty="0" sz="1200" spc="4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80">
                <a:latin typeface="한컴 울주 반구대 암각화체"/>
                <a:cs typeface="한컴 울주 반구대 암각화체"/>
              </a:rPr>
              <a:t>합니다</a:t>
            </a:r>
            <a:r>
              <a:rPr dirty="0" sz="1200" spc="80">
                <a:latin typeface="Microsoft JhengHei"/>
                <a:cs typeface="Microsoft JhengHei"/>
              </a:rPr>
              <a:t>.</a:t>
            </a:r>
            <a:endParaRPr sz="1200">
              <a:latin typeface="Microsoft JhengHei"/>
              <a:cs typeface="Microsoft JhengHei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354806" y="4802981"/>
            <a:ext cx="6853555" cy="6985"/>
          </a:xfrm>
          <a:custGeom>
            <a:avLst/>
            <a:gdLst/>
            <a:ahLst/>
            <a:cxnLst/>
            <a:rect l="l" t="t" r="r" b="b"/>
            <a:pathLst>
              <a:path w="6853555" h="6985">
                <a:moveTo>
                  <a:pt x="0" y="6508"/>
                </a:moveTo>
                <a:lnTo>
                  <a:pt x="6853236" y="6508"/>
                </a:lnTo>
                <a:lnTo>
                  <a:pt x="6853236" y="0"/>
                </a:lnTo>
                <a:lnTo>
                  <a:pt x="0" y="0"/>
                </a:lnTo>
                <a:lnTo>
                  <a:pt x="0" y="6508"/>
                </a:lnTo>
                <a:close/>
              </a:path>
            </a:pathLst>
          </a:custGeom>
          <a:solidFill>
            <a:srgbClr val="201D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3585716" y="4962219"/>
            <a:ext cx="391795" cy="1289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10"/>
              </a:lnSpc>
            </a:pPr>
            <a:r>
              <a:rPr dirty="0" sz="1200" spc="-10" b="1">
                <a:solidFill>
                  <a:srgbClr val="F5F5DB"/>
                </a:solidFill>
                <a:latin typeface="한컴산뜻돋움"/>
                <a:cs typeface="한컴산뜻돋움"/>
              </a:rPr>
              <a:t>Goals</a:t>
            </a:r>
            <a:endParaRPr sz="1200">
              <a:latin typeface="한컴산뜻돋움"/>
              <a:cs typeface="한컴산뜻돋움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76250" y="5391298"/>
            <a:ext cx="3045460" cy="1790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65"/>
              </a:lnSpc>
            </a:pPr>
            <a:r>
              <a:rPr dirty="0" sz="1200" spc="-10">
                <a:latin typeface="Arial"/>
                <a:cs typeface="Arial"/>
              </a:rPr>
              <a:t>Mesh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 spc="50">
                <a:latin typeface="Arial"/>
                <a:cs typeface="Arial"/>
              </a:rPr>
              <a:t>AI</a:t>
            </a:r>
            <a:r>
              <a:rPr dirty="0" sz="1200" spc="50">
                <a:latin typeface="한컴 울주 반구대 암각화체"/>
                <a:cs typeface="한컴 울주 반구대 암각화체"/>
              </a:rPr>
              <a:t>를</a:t>
            </a:r>
            <a:r>
              <a:rPr dirty="0" sz="1200" spc="7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80">
                <a:latin typeface="한컴 울주 반구대 암각화체"/>
                <a:cs typeface="한컴 울주 반구대 암각화체"/>
              </a:rPr>
              <a:t>이용하여</a:t>
            </a:r>
            <a:r>
              <a:rPr dirty="0" sz="1200" spc="75">
                <a:latin typeface="한컴 울주 반구대 암각화체"/>
                <a:cs typeface="한컴 울주 반구대 암각화체"/>
              </a:rPr>
              <a:t> </a:t>
            </a:r>
            <a:r>
              <a:rPr dirty="0" sz="1200">
                <a:latin typeface="Arial"/>
                <a:cs typeface="Arial"/>
              </a:rPr>
              <a:t>3D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Object</a:t>
            </a:r>
            <a:r>
              <a:rPr dirty="0" sz="1200">
                <a:latin typeface="한컴 울주 반구대 암각화체"/>
                <a:cs typeface="한컴 울주 반구대 암각화체"/>
              </a:rPr>
              <a:t>를</a:t>
            </a:r>
            <a:r>
              <a:rPr dirty="0" sz="1200" spc="7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70">
                <a:latin typeface="한컴 울주 반구대 암각화체"/>
                <a:cs typeface="한컴 울주 반구대 암각화체"/>
              </a:rPr>
              <a:t>제작합니다</a:t>
            </a:r>
            <a:r>
              <a:rPr dirty="0" sz="1200" spc="70">
                <a:latin typeface="Microsoft JhengHei"/>
                <a:cs typeface="Microsoft JhengHei"/>
              </a:rPr>
              <a:t>.</a:t>
            </a:r>
            <a:endParaRPr sz="1200">
              <a:latin typeface="Microsoft JhengHei"/>
              <a:cs typeface="Microsoft JhengHe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900487" y="5391298"/>
            <a:ext cx="3150870" cy="3981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65"/>
              </a:lnSpc>
            </a:pPr>
            <a:r>
              <a:rPr dirty="0" sz="1200">
                <a:latin typeface="Arial"/>
                <a:cs typeface="Arial"/>
              </a:rPr>
              <a:t>Gamma</a:t>
            </a:r>
            <a:r>
              <a:rPr dirty="0" sz="1200">
                <a:latin typeface="한컴 울주 반구대 암각화체"/>
                <a:cs typeface="한컴 울주 반구대 암각화체"/>
              </a:rPr>
              <a:t>를</a:t>
            </a:r>
            <a:r>
              <a:rPr dirty="0" sz="1200" spc="4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80">
                <a:latin typeface="한컴 울주 반구대 암각화체"/>
                <a:cs typeface="한컴 울주 반구대 암각화체"/>
              </a:rPr>
              <a:t>이용하여</a:t>
            </a:r>
            <a:r>
              <a:rPr dirty="0" sz="1200" spc="4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75">
                <a:latin typeface="한컴 울주 반구대 암각화체"/>
                <a:cs typeface="한컴 울주 반구대 암각화체"/>
              </a:rPr>
              <a:t>짜임새</a:t>
            </a:r>
            <a:r>
              <a:rPr dirty="0" sz="1200" spc="4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220">
                <a:latin typeface="한컴 울주 반구대 암각화체"/>
                <a:cs typeface="한컴 울주 반구대 암각화체"/>
              </a:rPr>
              <a:t>있는</a:t>
            </a:r>
            <a:r>
              <a:rPr dirty="0" sz="1200" spc="4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260">
                <a:latin typeface="한컴 울주 반구대 암각화체"/>
                <a:cs typeface="한컴 울주 반구대 암각화체"/>
              </a:rPr>
              <a:t>포트폴리오</a:t>
            </a:r>
            <a:r>
              <a:rPr dirty="0" sz="1200" spc="4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-50">
                <a:latin typeface="한컴 울주 반구대 암각화체"/>
                <a:cs typeface="한컴 울주 반구대 암각화체"/>
              </a:rPr>
              <a:t>제</a:t>
            </a:r>
            <a:endParaRPr sz="1200">
              <a:latin typeface="한컴 울주 반구대 암각화체"/>
              <a:cs typeface="한컴 울주 반구대 암각화체"/>
            </a:endParaRPr>
          </a:p>
          <a:p>
            <a:pPr>
              <a:lnSpc>
                <a:spcPct val="100000"/>
              </a:lnSpc>
              <a:spcBef>
                <a:spcPts val="284"/>
              </a:spcBef>
            </a:pPr>
            <a:r>
              <a:rPr dirty="0" sz="1200" spc="45">
                <a:latin typeface="한컴 울주 반구대 암각화체"/>
                <a:cs typeface="한컴 울주 반구대 암각화체"/>
              </a:rPr>
              <a:t>작</a:t>
            </a:r>
            <a:endParaRPr sz="1200">
              <a:latin typeface="한컴 울주 반구대 암각화체"/>
              <a:cs typeface="한컴 울주 반구대 암각화체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76250" y="6077098"/>
            <a:ext cx="6202680" cy="1790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65"/>
              </a:lnSpc>
            </a:pPr>
            <a:r>
              <a:rPr dirty="0" sz="1200" spc="-35">
                <a:latin typeface="Arial"/>
                <a:cs typeface="Arial"/>
              </a:rPr>
              <a:t>GPT</a:t>
            </a:r>
            <a:r>
              <a:rPr dirty="0" sz="1200" spc="-35">
                <a:latin typeface="한컴 울주 반구대 암각화체"/>
                <a:cs typeface="한컴 울주 반구대 암각화체"/>
              </a:rPr>
              <a:t>와</a:t>
            </a:r>
            <a:r>
              <a:rPr dirty="0" sz="1200" spc="3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-10">
                <a:latin typeface="Arial"/>
                <a:cs typeface="Arial"/>
              </a:rPr>
              <a:t>GEMINI</a:t>
            </a:r>
            <a:r>
              <a:rPr dirty="0" sz="1200" spc="-10">
                <a:latin typeface="한컴 울주 반구대 암각화체"/>
                <a:cs typeface="한컴 울주 반구대 암각화체"/>
              </a:rPr>
              <a:t>를</a:t>
            </a:r>
            <a:r>
              <a:rPr dirty="0" sz="1200" spc="3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80">
                <a:latin typeface="한컴 울주 반구대 암각화체"/>
                <a:cs typeface="한컴 울주 반구대 암각화체"/>
              </a:rPr>
              <a:t>이용하여</a:t>
            </a:r>
            <a:r>
              <a:rPr dirty="0" sz="1200" spc="3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60">
                <a:latin typeface="한컴 울주 반구대 암각화체"/>
                <a:cs typeface="한컴 울주 반구대 암각화체"/>
              </a:rPr>
              <a:t>자신이</a:t>
            </a:r>
            <a:r>
              <a:rPr dirty="0" sz="1200" spc="3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35">
                <a:latin typeface="한컴 울주 반구대 암각화체"/>
                <a:cs typeface="한컴 울주 반구대 암각화체"/>
              </a:rPr>
              <a:t>원하는</a:t>
            </a:r>
            <a:r>
              <a:rPr dirty="0" sz="1200" spc="3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204">
                <a:latin typeface="한컴 울주 반구대 암각화체"/>
                <a:cs typeface="한컴 울주 반구대 암각화체"/>
              </a:rPr>
              <a:t>이미지를</a:t>
            </a:r>
            <a:r>
              <a:rPr dirty="0" sz="1200" spc="3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80">
                <a:latin typeface="한컴 울주 반구대 암각화체"/>
                <a:cs typeface="한컴 울주 반구대 암각화체"/>
              </a:rPr>
              <a:t>출력하여</a:t>
            </a:r>
            <a:r>
              <a:rPr dirty="0" sz="1200" spc="3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80">
                <a:latin typeface="한컴 울주 반구대 암각화체"/>
                <a:cs typeface="한컴 울주 반구대 암각화체"/>
              </a:rPr>
              <a:t>기획서를</a:t>
            </a:r>
            <a:r>
              <a:rPr dirty="0" sz="1200" spc="3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25">
                <a:latin typeface="한컴 울주 반구대 암각화체"/>
                <a:cs typeface="한컴 울주 반구대 암각화체"/>
              </a:rPr>
              <a:t>풍성하게</a:t>
            </a:r>
            <a:r>
              <a:rPr dirty="0" sz="1200" spc="3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00">
                <a:latin typeface="한컴 울주 반구대 암각화체"/>
                <a:cs typeface="한컴 울주 반구대 암각화체"/>
              </a:rPr>
              <a:t>작성합니다</a:t>
            </a:r>
            <a:r>
              <a:rPr dirty="0" sz="1200" spc="100">
                <a:latin typeface="Microsoft JhengHei"/>
                <a:cs typeface="Microsoft JhengHei"/>
              </a:rPr>
              <a:t>.</a:t>
            </a:r>
            <a:endParaRPr sz="1200">
              <a:latin typeface="Microsoft JhengHei"/>
              <a:cs typeface="Microsoft JhengHe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352424" y="4800600"/>
            <a:ext cx="6858000" cy="1615440"/>
            <a:chOff x="352424" y="4800600"/>
            <a:chExt cx="6858000" cy="1615440"/>
          </a:xfrm>
        </p:grpSpPr>
        <p:sp>
          <p:nvSpPr>
            <p:cNvPr id="14" name="object 14" descr=""/>
            <p:cNvSpPr/>
            <p:nvPr/>
          </p:nvSpPr>
          <p:spPr>
            <a:xfrm>
              <a:off x="357174" y="4809502"/>
              <a:ext cx="6848475" cy="1596390"/>
            </a:xfrm>
            <a:custGeom>
              <a:avLst/>
              <a:gdLst/>
              <a:ahLst/>
              <a:cxnLst/>
              <a:rect l="l" t="t" r="r" b="b"/>
              <a:pathLst>
                <a:path w="6848475" h="1596389">
                  <a:moveTo>
                    <a:pt x="6848475" y="0"/>
                  </a:moveTo>
                  <a:lnTo>
                    <a:pt x="0" y="0"/>
                  </a:lnTo>
                  <a:lnTo>
                    <a:pt x="0" y="461010"/>
                  </a:lnTo>
                  <a:lnTo>
                    <a:pt x="0" y="1135380"/>
                  </a:lnTo>
                  <a:lnTo>
                    <a:pt x="0" y="1596390"/>
                  </a:lnTo>
                  <a:lnTo>
                    <a:pt x="6848475" y="1596390"/>
                  </a:lnTo>
                  <a:lnTo>
                    <a:pt x="6848475" y="1135735"/>
                  </a:lnTo>
                  <a:lnTo>
                    <a:pt x="6848475" y="1135380"/>
                  </a:lnTo>
                  <a:lnTo>
                    <a:pt x="6848475" y="461543"/>
                  </a:lnTo>
                  <a:lnTo>
                    <a:pt x="3424237" y="461543"/>
                  </a:lnTo>
                  <a:lnTo>
                    <a:pt x="3424237" y="461010"/>
                  </a:lnTo>
                  <a:lnTo>
                    <a:pt x="6848475" y="461010"/>
                  </a:lnTo>
                  <a:lnTo>
                    <a:pt x="68484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52424" y="4805362"/>
              <a:ext cx="6858000" cy="1605915"/>
            </a:xfrm>
            <a:custGeom>
              <a:avLst/>
              <a:gdLst/>
              <a:ahLst/>
              <a:cxnLst/>
              <a:rect l="l" t="t" r="r" b="b"/>
              <a:pathLst>
                <a:path w="6858000" h="1605914">
                  <a:moveTo>
                    <a:pt x="4762" y="4762"/>
                  </a:moveTo>
                  <a:lnTo>
                    <a:pt x="4762" y="1600795"/>
                  </a:lnTo>
                </a:path>
                <a:path w="6858000" h="1605914">
                  <a:moveTo>
                    <a:pt x="3428999" y="465683"/>
                  </a:moveTo>
                  <a:lnTo>
                    <a:pt x="3428999" y="1139874"/>
                  </a:lnTo>
                </a:path>
                <a:path w="6858000" h="1605914">
                  <a:moveTo>
                    <a:pt x="6853236" y="4762"/>
                  </a:moveTo>
                  <a:lnTo>
                    <a:pt x="6853236" y="1600795"/>
                  </a:lnTo>
                </a:path>
                <a:path w="6858000" h="1605914">
                  <a:moveTo>
                    <a:pt x="0" y="0"/>
                  </a:moveTo>
                  <a:lnTo>
                    <a:pt x="6857999" y="0"/>
                  </a:lnTo>
                </a:path>
                <a:path w="6858000" h="1605914">
                  <a:moveTo>
                    <a:pt x="0" y="460920"/>
                  </a:moveTo>
                  <a:lnTo>
                    <a:pt x="6857999" y="460920"/>
                  </a:lnTo>
                </a:path>
                <a:path w="6858000" h="1605914">
                  <a:moveTo>
                    <a:pt x="0" y="1144637"/>
                  </a:moveTo>
                  <a:lnTo>
                    <a:pt x="6857999" y="1144637"/>
                  </a:lnTo>
                </a:path>
                <a:path w="6858000" h="1605914">
                  <a:moveTo>
                    <a:pt x="0" y="1605557"/>
                  </a:moveTo>
                  <a:lnTo>
                    <a:pt x="6857999" y="1605557"/>
                  </a:lnTo>
                </a:path>
              </a:pathLst>
            </a:custGeom>
            <a:ln w="9524">
              <a:solidFill>
                <a:srgbClr val="201D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/>
          <p:nvPr/>
        </p:nvSpPr>
        <p:spPr>
          <a:xfrm>
            <a:off x="350037" y="6931824"/>
            <a:ext cx="6863080" cy="713740"/>
          </a:xfrm>
          <a:custGeom>
            <a:avLst/>
            <a:gdLst/>
            <a:ahLst/>
            <a:cxnLst/>
            <a:rect l="l" t="t" r="r" b="b"/>
            <a:pathLst>
              <a:path w="6863080" h="713740">
                <a:moveTo>
                  <a:pt x="6862762" y="0"/>
                </a:moveTo>
                <a:lnTo>
                  <a:pt x="6241910" y="0"/>
                </a:lnTo>
                <a:lnTo>
                  <a:pt x="6237148" y="0"/>
                </a:lnTo>
                <a:lnTo>
                  <a:pt x="0" y="0"/>
                </a:lnTo>
                <a:lnTo>
                  <a:pt x="0" y="713333"/>
                </a:lnTo>
                <a:lnTo>
                  <a:pt x="6237148" y="713333"/>
                </a:lnTo>
                <a:lnTo>
                  <a:pt x="6241910" y="713333"/>
                </a:lnTo>
                <a:lnTo>
                  <a:pt x="6862762" y="713333"/>
                </a:lnTo>
                <a:lnTo>
                  <a:pt x="6862762" y="0"/>
                </a:lnTo>
                <a:close/>
              </a:path>
            </a:pathLst>
          </a:custGeom>
          <a:solidFill>
            <a:srgbClr val="F5F5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350043" y="6931818"/>
            <a:ext cx="6863080" cy="71374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16205">
              <a:lnSpc>
                <a:spcPct val="100000"/>
              </a:lnSpc>
              <a:spcBef>
                <a:spcPts val="865"/>
              </a:spcBef>
            </a:pPr>
            <a:r>
              <a:rPr dirty="0" sz="2750" spc="-65">
                <a:solidFill>
                  <a:srgbClr val="201D1B"/>
                </a:solidFill>
                <a:latin typeface="Arial"/>
                <a:cs typeface="Arial"/>
              </a:rPr>
              <a:t>Program</a:t>
            </a:r>
            <a:r>
              <a:rPr dirty="0" sz="2750" spc="-75">
                <a:solidFill>
                  <a:srgbClr val="201D1B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201D1B"/>
                </a:solidFill>
                <a:latin typeface="Arial"/>
                <a:cs typeface="Arial"/>
              </a:rPr>
              <a:t>to</a:t>
            </a:r>
            <a:r>
              <a:rPr dirty="0" sz="2750" spc="-75">
                <a:solidFill>
                  <a:srgbClr val="201D1B"/>
                </a:solidFill>
                <a:latin typeface="Arial"/>
                <a:cs typeface="Arial"/>
              </a:rPr>
              <a:t> </a:t>
            </a:r>
            <a:r>
              <a:rPr dirty="0" sz="2750" spc="-25">
                <a:solidFill>
                  <a:srgbClr val="201D1B"/>
                </a:solidFill>
                <a:latin typeface="Arial"/>
                <a:cs typeface="Arial"/>
              </a:rPr>
              <a:t>use</a:t>
            </a:r>
            <a:endParaRPr sz="2750">
              <a:latin typeface="Arial"/>
              <a:cs typeface="Arial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6743700" y="71437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782" y="304782"/>
                </a:moveTo>
                <a:lnTo>
                  <a:pt x="282994" y="304782"/>
                </a:lnTo>
                <a:lnTo>
                  <a:pt x="282994" y="37191"/>
                </a:lnTo>
                <a:lnTo>
                  <a:pt x="15508" y="304676"/>
                </a:lnTo>
                <a:lnTo>
                  <a:pt x="103" y="289271"/>
                </a:lnTo>
                <a:lnTo>
                  <a:pt x="267590" y="21787"/>
                </a:lnTo>
                <a:lnTo>
                  <a:pt x="0" y="21787"/>
                </a:lnTo>
                <a:lnTo>
                  <a:pt x="0" y="0"/>
                </a:lnTo>
                <a:lnTo>
                  <a:pt x="304782" y="0"/>
                </a:lnTo>
                <a:lnTo>
                  <a:pt x="304782" y="304782"/>
                </a:lnTo>
                <a:close/>
              </a:path>
            </a:pathLst>
          </a:custGeom>
          <a:solidFill>
            <a:srgbClr val="201D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339724" y="7747796"/>
            <a:ext cx="6746240" cy="4679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19800"/>
              </a:lnSpc>
              <a:spcBef>
                <a:spcPts val="130"/>
              </a:spcBef>
            </a:pPr>
            <a:r>
              <a:rPr dirty="0" sz="1200" spc="95">
                <a:latin typeface="한컴 울주 반구대 암각화체"/>
                <a:cs typeface="한컴 울주 반구대 암각화체"/>
              </a:rPr>
              <a:t>다양한</a:t>
            </a:r>
            <a:r>
              <a:rPr dirty="0" sz="1200" spc="4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-20">
                <a:latin typeface="Arial"/>
                <a:cs typeface="Arial"/>
              </a:rPr>
              <a:t>AI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spc="260">
                <a:latin typeface="한컴 울주 반구대 암각화체"/>
                <a:cs typeface="한컴 울주 반구대 암각화체"/>
              </a:rPr>
              <a:t>도구를</a:t>
            </a:r>
            <a:r>
              <a:rPr dirty="0" sz="1200" spc="5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35">
                <a:latin typeface="한컴 울주 반구대 암각화체"/>
                <a:cs typeface="한컴 울주 반구대 암각화체"/>
              </a:rPr>
              <a:t>활용하여</a:t>
            </a:r>
            <a:r>
              <a:rPr dirty="0" sz="1200" spc="5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55">
                <a:latin typeface="한컴 울주 반구대 암각화체"/>
                <a:cs typeface="한컴 울주 반구대 암각화체"/>
              </a:rPr>
              <a:t>각</a:t>
            </a:r>
            <a:r>
              <a:rPr dirty="0" sz="1200" spc="50">
                <a:latin typeface="한컴 울주 반구대 암각화체"/>
                <a:cs typeface="한컴 울주 반구대 암각화체"/>
              </a:rPr>
              <a:t> </a:t>
            </a:r>
            <a:r>
              <a:rPr dirty="0" sz="1200">
                <a:latin typeface="Arial"/>
                <a:cs typeface="Arial"/>
              </a:rPr>
              <a:t>AI</a:t>
            </a:r>
            <a:r>
              <a:rPr dirty="0" sz="1200">
                <a:latin typeface="한컴 울주 반구대 암각화체"/>
                <a:cs typeface="한컴 울주 반구대 암각화체"/>
              </a:rPr>
              <a:t>의</a:t>
            </a:r>
            <a:r>
              <a:rPr dirty="0" sz="1200" spc="5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70">
                <a:latin typeface="한컴 울주 반구대 암각화체"/>
                <a:cs typeface="한컴 울주 반구대 암각화체"/>
              </a:rPr>
              <a:t>특성과</a:t>
            </a:r>
            <a:r>
              <a:rPr dirty="0" sz="1200" spc="5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10">
                <a:latin typeface="한컴 울주 반구대 암각화체"/>
                <a:cs typeface="한컴 울주 반구대 암각화체"/>
              </a:rPr>
              <a:t>장</a:t>
            </a:r>
            <a:r>
              <a:rPr dirty="0" sz="1200" spc="110">
                <a:latin typeface="Microsoft JhengHei"/>
                <a:cs typeface="Microsoft JhengHei"/>
              </a:rPr>
              <a:t>·</a:t>
            </a:r>
            <a:r>
              <a:rPr dirty="0" sz="1200" spc="110">
                <a:latin typeface="한컴 울주 반구대 암각화체"/>
                <a:cs typeface="한컴 울주 반구대 암각화체"/>
              </a:rPr>
              <a:t>단점을</a:t>
            </a:r>
            <a:r>
              <a:rPr dirty="0" sz="1200" spc="5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60">
                <a:latin typeface="한컴 울주 반구대 암각화체"/>
                <a:cs typeface="한컴 울주 반구대 암각화체"/>
              </a:rPr>
              <a:t>비교</a:t>
            </a:r>
            <a:r>
              <a:rPr dirty="0" sz="1200" spc="160">
                <a:latin typeface="Microsoft JhengHei"/>
                <a:cs typeface="Microsoft JhengHei"/>
              </a:rPr>
              <a:t>·</a:t>
            </a:r>
            <a:r>
              <a:rPr dirty="0" sz="1200" spc="160">
                <a:latin typeface="한컴 울주 반구대 암각화체"/>
                <a:cs typeface="한컴 울주 반구대 암각화체"/>
              </a:rPr>
              <a:t>분석하고</a:t>
            </a:r>
            <a:r>
              <a:rPr dirty="0" sz="1200" spc="160">
                <a:latin typeface="Microsoft JhengHei"/>
                <a:cs typeface="Microsoft JhengHei"/>
              </a:rPr>
              <a:t>,</a:t>
            </a:r>
            <a:r>
              <a:rPr dirty="0" sz="1200" spc="20">
                <a:latin typeface="Microsoft JhengHei"/>
                <a:cs typeface="Microsoft JhengHei"/>
              </a:rPr>
              <a:t> </a:t>
            </a:r>
            <a:r>
              <a:rPr dirty="0" sz="1200" spc="235">
                <a:latin typeface="한컴 울주 반구대 암각화체"/>
                <a:cs typeface="한컴 울주 반구대 암각화체"/>
              </a:rPr>
              <a:t>이를</a:t>
            </a:r>
            <a:r>
              <a:rPr dirty="0" sz="1200" spc="5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90">
                <a:latin typeface="한컴 울주 반구대 암각화체"/>
                <a:cs typeface="한컴 울주 반구대 암각화체"/>
              </a:rPr>
              <a:t>바탕으로</a:t>
            </a:r>
            <a:r>
              <a:rPr dirty="0" sz="1200" spc="5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75">
                <a:latin typeface="한컴 울주 반구대 암각화체"/>
                <a:cs typeface="한컴 울주 반구대 암각화체"/>
              </a:rPr>
              <a:t>게임</a:t>
            </a:r>
            <a:r>
              <a:rPr dirty="0" sz="1200" spc="5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70">
                <a:latin typeface="한컴 울주 반구대 암각화체"/>
                <a:cs typeface="한컴 울주 반구대 암각화체"/>
              </a:rPr>
              <a:t>기획서</a:t>
            </a:r>
            <a:r>
              <a:rPr dirty="0" sz="1200" spc="5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229">
                <a:latin typeface="한컴 울주 반구대 암각화체"/>
                <a:cs typeface="한컴 울주 반구대 암각화체"/>
              </a:rPr>
              <a:t>및</a:t>
            </a:r>
            <a:r>
              <a:rPr dirty="0" sz="1200" spc="45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215">
                <a:latin typeface="한컴 울주 반구대 암각화체"/>
                <a:cs typeface="한컴 울주 반구대 암각화체"/>
              </a:rPr>
              <a:t>포 </a:t>
            </a:r>
            <a:r>
              <a:rPr dirty="0" sz="1200" spc="245">
                <a:latin typeface="한컴 울주 반구대 암각화체"/>
                <a:cs typeface="한컴 울주 반구대 암각화체"/>
              </a:rPr>
              <a:t>트폴리오의</a:t>
            </a:r>
            <a:r>
              <a:rPr dirty="0" sz="1200" spc="4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55">
                <a:latin typeface="한컴 울주 반구대 암각화체"/>
                <a:cs typeface="한컴 울주 반구대 암각화체"/>
              </a:rPr>
              <a:t>완성도와</a:t>
            </a:r>
            <a:r>
              <a:rPr dirty="0" sz="1200" spc="4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204">
                <a:latin typeface="한컴 울주 반구대 암각화체"/>
                <a:cs typeface="한컴 울주 반구대 암각화체"/>
              </a:rPr>
              <a:t>전문성을</a:t>
            </a:r>
            <a:r>
              <a:rPr dirty="0" sz="1200" spc="4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140">
                <a:latin typeface="한컴 울주 반구대 암각화체"/>
                <a:cs typeface="한컴 울주 반구대 암각화체"/>
              </a:rPr>
              <a:t>강화하고자</a:t>
            </a:r>
            <a:r>
              <a:rPr dirty="0" sz="1200" spc="40">
                <a:latin typeface="한컴 울주 반구대 암각화체"/>
                <a:cs typeface="한컴 울주 반구대 암각화체"/>
              </a:rPr>
              <a:t> </a:t>
            </a:r>
            <a:r>
              <a:rPr dirty="0" sz="1200" spc="80">
                <a:latin typeface="한컴 울주 반구대 암각화체"/>
                <a:cs typeface="한컴 울주 반구대 암각화체"/>
              </a:rPr>
              <a:t>합니다</a:t>
            </a:r>
            <a:r>
              <a:rPr dirty="0" sz="1200" spc="80">
                <a:latin typeface="Microsoft JhengHei"/>
                <a:cs typeface="Microsoft JhengHei"/>
              </a:rPr>
              <a:t>.</a:t>
            </a:r>
            <a:endParaRPr sz="1200">
              <a:latin typeface="Microsoft JhengHei"/>
              <a:cs typeface="Microsoft JhengHe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39724" y="8372035"/>
            <a:ext cx="512445" cy="307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-60">
                <a:latin typeface="Arial"/>
                <a:cs typeface="Arial"/>
              </a:rPr>
              <a:t>Type</a:t>
            </a:r>
            <a:endParaRPr sz="1850">
              <a:latin typeface="Arial"/>
              <a:cs typeface="Arial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624" y="8905875"/>
            <a:ext cx="152399" cy="152399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644524" y="8819784"/>
            <a:ext cx="1025525" cy="8826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140"/>
              </a:spcBef>
            </a:pPr>
            <a:r>
              <a:rPr dirty="0" sz="1200" spc="-10">
                <a:latin typeface="Arial"/>
                <a:cs typeface="Arial"/>
              </a:rPr>
              <a:t>Chat</a:t>
            </a:r>
            <a:r>
              <a:rPr dirty="0" sz="1200" spc="-65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GPT </a:t>
            </a:r>
            <a:r>
              <a:rPr dirty="0" sz="1200">
                <a:latin typeface="Arial"/>
                <a:cs typeface="Arial"/>
              </a:rPr>
              <a:t>Google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Gemini </a:t>
            </a:r>
            <a:r>
              <a:rPr dirty="0" sz="1200" spc="-10">
                <a:latin typeface="Arial"/>
                <a:cs typeface="Arial"/>
              </a:rPr>
              <a:t>Mesh</a:t>
            </a:r>
            <a:r>
              <a:rPr dirty="0" sz="1200" spc="-6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AI </a:t>
            </a:r>
            <a:r>
              <a:rPr dirty="0" sz="1200" spc="-10">
                <a:latin typeface="Arial"/>
                <a:cs typeface="Arial"/>
              </a:rPr>
              <a:t>Gamma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23" name="object 2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624" y="9124950"/>
            <a:ext cx="152399" cy="152399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624" y="9334500"/>
            <a:ext cx="152399" cy="152399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624" y="9553575"/>
            <a:ext cx="152399" cy="1523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50043" y="502443"/>
            <a:ext cx="6863080" cy="71374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16205">
              <a:lnSpc>
                <a:spcPct val="100000"/>
              </a:lnSpc>
              <a:spcBef>
                <a:spcPts val="865"/>
              </a:spcBef>
            </a:pPr>
            <a:r>
              <a:rPr dirty="0" sz="2750" spc="-20">
                <a:solidFill>
                  <a:srgbClr val="201D1B"/>
                </a:solidFill>
                <a:latin typeface="Arial"/>
                <a:cs typeface="Arial"/>
              </a:rPr>
              <a:t>Detailed</a:t>
            </a:r>
            <a:r>
              <a:rPr dirty="0" sz="2750" spc="-120">
                <a:solidFill>
                  <a:srgbClr val="201D1B"/>
                </a:solidFill>
                <a:latin typeface="Arial"/>
                <a:cs typeface="Arial"/>
              </a:rPr>
              <a:t> </a:t>
            </a:r>
            <a:r>
              <a:rPr dirty="0" sz="2750" spc="-10">
                <a:solidFill>
                  <a:srgbClr val="201D1B"/>
                </a:solidFill>
                <a:latin typeface="Arial"/>
                <a:cs typeface="Arial"/>
              </a:rPr>
              <a:t>Schedule</a:t>
            </a:r>
            <a:endParaRPr sz="275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743700" y="7048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782" y="304782"/>
                </a:moveTo>
                <a:lnTo>
                  <a:pt x="282994" y="304782"/>
                </a:lnTo>
                <a:lnTo>
                  <a:pt x="282994" y="37191"/>
                </a:lnTo>
                <a:lnTo>
                  <a:pt x="15508" y="304676"/>
                </a:lnTo>
                <a:lnTo>
                  <a:pt x="103" y="289271"/>
                </a:lnTo>
                <a:lnTo>
                  <a:pt x="267590" y="21787"/>
                </a:lnTo>
                <a:lnTo>
                  <a:pt x="0" y="21787"/>
                </a:lnTo>
                <a:lnTo>
                  <a:pt x="0" y="0"/>
                </a:lnTo>
                <a:lnTo>
                  <a:pt x="304782" y="0"/>
                </a:lnTo>
                <a:lnTo>
                  <a:pt x="304782" y="304782"/>
                </a:lnTo>
                <a:close/>
              </a:path>
            </a:pathLst>
          </a:custGeom>
          <a:solidFill>
            <a:srgbClr val="201D1B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347657" y="1738304"/>
          <a:ext cx="6944359" cy="5149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67839"/>
                <a:gridCol w="5090795"/>
              </a:tblGrid>
              <a:tr h="57213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2100" spc="-170">
                          <a:solidFill>
                            <a:srgbClr val="FFFFFF"/>
                          </a:solidFill>
                          <a:latin typeface="한컴 울주 천전리 각석체"/>
                          <a:cs typeface="한컴 울주 천전리 각석체"/>
                        </a:rPr>
                        <a:t>주차</a:t>
                      </a:r>
                      <a:r>
                        <a:rPr dirty="0" sz="2100" spc="60">
                          <a:solidFill>
                            <a:srgbClr val="FFFFFF"/>
                          </a:solidFill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2100" spc="-20">
                          <a:solidFill>
                            <a:srgbClr val="FFFFFF"/>
                          </a:solidFill>
                          <a:latin typeface="한컴 울주 천전리 각석체"/>
                          <a:cs typeface="한컴 울주 천전리 각석체"/>
                        </a:rPr>
                        <a:t>(시간)</a:t>
                      </a:r>
                      <a:endParaRPr sz="2100">
                        <a:latin typeface="한컴 울주 천전리 각석체"/>
                        <a:cs typeface="한컴 울주 천전리 각석체"/>
                      </a:endParaRPr>
                    </a:p>
                  </a:txBody>
                  <a:tcPr marL="0" marR="0" marB="0" marT="86360">
                    <a:lnL w="9525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3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2100" spc="-25">
                          <a:solidFill>
                            <a:srgbClr val="FFFFFF"/>
                          </a:solidFill>
                          <a:latin typeface="한컴 울주 천전리 각석체"/>
                          <a:cs typeface="한컴 울주 천전리 각석체"/>
                        </a:rPr>
                        <a:t>내용</a:t>
                      </a:r>
                      <a:endParaRPr sz="2100">
                        <a:latin typeface="한컴 울주 천전리 각석체"/>
                        <a:cs typeface="한컴 울주 천전리 각석체"/>
                      </a:endParaRPr>
                    </a:p>
                  </a:txBody>
                  <a:tcPr marL="0" marR="0" marB="0" marT="86360"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3B4A"/>
                    </a:solidFill>
                  </a:tcPr>
                </a:tc>
              </a:tr>
              <a:tr h="57213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400" spc="-60">
                          <a:latin typeface="한컴 울주 천전리 각석체"/>
                          <a:cs typeface="한컴 울주 천전리 각석체"/>
                        </a:rPr>
                        <a:t>1주차</a:t>
                      </a:r>
                      <a:r>
                        <a:rPr dirty="0" sz="1400" spc="-25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400" spc="-20">
                          <a:latin typeface="한컴 울주 천전리 각석체"/>
                          <a:cs typeface="한컴 울주 천전리 각석체"/>
                        </a:rPr>
                        <a:t>(2시간)</a:t>
                      </a:r>
                      <a:endParaRPr sz="1400">
                        <a:latin typeface="한컴 울주 천전리 각석체"/>
                        <a:cs typeface="한컴 울주 천전리 각석체"/>
                      </a:endParaRPr>
                    </a:p>
                  </a:txBody>
                  <a:tcPr marL="0" marR="0" marB="0" marT="15621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1200" spc="-60">
                          <a:latin typeface="한컴 울주 천전리 각석체"/>
                          <a:cs typeface="한컴 울주 천전리 각석체"/>
                        </a:rPr>
                        <a:t>AI</a:t>
                      </a:r>
                      <a:r>
                        <a:rPr dirty="0" sz="1200" spc="-10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45">
                          <a:latin typeface="한컴 울주 천전리 각석체"/>
                          <a:cs typeface="한컴 울주 천전리 각석체"/>
                        </a:rPr>
                        <a:t>Tool</a:t>
                      </a:r>
                      <a:r>
                        <a:rPr dirty="0" sz="1200" spc="-25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75">
                          <a:latin typeface="한컴 울주 천전리 각석체"/>
                          <a:cs typeface="한컴 울주 천전리 각석체"/>
                        </a:rPr>
                        <a:t>소개</a:t>
                      </a:r>
                      <a:r>
                        <a:rPr dirty="0" sz="1200" spc="10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>
                          <a:latin typeface="한컴 울주 천전리 각석체"/>
                          <a:cs typeface="한컴 울주 천전리 각석체"/>
                        </a:rPr>
                        <a:t>및 </a:t>
                      </a:r>
                      <a:r>
                        <a:rPr dirty="0" sz="1200" spc="-60">
                          <a:latin typeface="한컴 울주 천전리 각석체"/>
                          <a:cs typeface="한컴 울주 천전리 각석체"/>
                        </a:rPr>
                        <a:t>AI</a:t>
                      </a:r>
                      <a:r>
                        <a:rPr dirty="0" sz="1200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80">
                          <a:latin typeface="한컴 울주 천전리 각석체"/>
                          <a:cs typeface="한컴 울주 천전리 각석체"/>
                        </a:rPr>
                        <a:t>프롬프트</a:t>
                      </a:r>
                      <a:r>
                        <a:rPr dirty="0" sz="1200" spc="10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75">
                          <a:latin typeface="한컴 울주 천전리 각석체"/>
                          <a:cs typeface="한컴 울주 천전리 각석체"/>
                        </a:rPr>
                        <a:t>작성</a:t>
                      </a:r>
                      <a:r>
                        <a:rPr dirty="0" sz="1200" spc="5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75">
                          <a:latin typeface="한컴 울주 천전리 각석체"/>
                          <a:cs typeface="한컴 울주 천전리 각석체"/>
                        </a:rPr>
                        <a:t>방법</a:t>
                      </a:r>
                      <a:r>
                        <a:rPr dirty="0" sz="1200" spc="5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25">
                          <a:latin typeface="한컴 울주 천전리 각석체"/>
                          <a:cs typeface="한컴 울주 천전리 각석체"/>
                        </a:rPr>
                        <a:t>학습</a:t>
                      </a:r>
                      <a:endParaRPr sz="1200">
                        <a:latin typeface="한컴 울주 천전리 각석체"/>
                        <a:cs typeface="한컴 울주 천전리 각석체"/>
                      </a:endParaRPr>
                    </a:p>
                  </a:txBody>
                  <a:tcPr marL="0" marR="0" marB="0" marT="17208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7213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400" spc="-35">
                          <a:latin typeface="한컴 울주 천전리 각석체"/>
                          <a:cs typeface="한컴 울주 천전리 각석체"/>
                        </a:rPr>
                        <a:t>2,3주차</a:t>
                      </a:r>
                      <a:r>
                        <a:rPr dirty="0" sz="1400" spc="-45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400" spc="-20">
                          <a:latin typeface="한컴 울주 천전리 각석체"/>
                          <a:cs typeface="한컴 울주 천전리 각석체"/>
                        </a:rPr>
                        <a:t>(4시간)</a:t>
                      </a:r>
                      <a:endParaRPr sz="1400">
                        <a:latin typeface="한컴 울주 천전리 각석체"/>
                        <a:cs typeface="한컴 울주 천전리 각석체"/>
                      </a:endParaRPr>
                    </a:p>
                  </a:txBody>
                  <a:tcPr marL="0" marR="0" marB="0" marT="15621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1200" spc="-75">
                          <a:latin typeface="한컴 울주 천전리 각석체"/>
                          <a:cs typeface="한컴 울주 천전리 각석체"/>
                        </a:rPr>
                        <a:t>게임</a:t>
                      </a:r>
                      <a:r>
                        <a:rPr dirty="0" sz="1200" spc="5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80">
                          <a:latin typeface="한컴 울주 천전리 각석체"/>
                          <a:cs typeface="한컴 울주 천전리 각석체"/>
                        </a:rPr>
                        <a:t>기획서</a:t>
                      </a:r>
                      <a:r>
                        <a:rPr dirty="0" sz="1200" spc="10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75">
                          <a:latin typeface="한컴 울주 천전리 각석체"/>
                          <a:cs typeface="한컴 울주 천전리 각석체"/>
                        </a:rPr>
                        <a:t>작성</a:t>
                      </a:r>
                      <a:r>
                        <a:rPr dirty="0" sz="1200" spc="5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>
                          <a:latin typeface="한컴 울주 천전리 각석체"/>
                          <a:cs typeface="한컴 울주 천전리 각석체"/>
                        </a:rPr>
                        <a:t>및</a:t>
                      </a:r>
                      <a:r>
                        <a:rPr dirty="0" sz="1200" spc="-25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20">
                          <a:latin typeface="한컴 울주 천전리 각석체"/>
                          <a:cs typeface="한컴 울주 천전리 각석체"/>
                        </a:rPr>
                        <a:t>Gamma를</a:t>
                      </a:r>
                      <a:r>
                        <a:rPr dirty="0" sz="1200" spc="5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80">
                          <a:latin typeface="한컴 울주 천전리 각석체"/>
                          <a:cs typeface="한컴 울주 천전리 각석체"/>
                        </a:rPr>
                        <a:t>이용하여</a:t>
                      </a:r>
                      <a:r>
                        <a:rPr dirty="0" sz="1200" spc="10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80">
                          <a:latin typeface="한컴 울주 천전리 각석체"/>
                          <a:cs typeface="한컴 울주 천전리 각석체"/>
                        </a:rPr>
                        <a:t>포트폴리오</a:t>
                      </a:r>
                      <a:r>
                        <a:rPr dirty="0" sz="1200" spc="15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80">
                          <a:latin typeface="한컴 울주 천전리 각석체"/>
                          <a:cs typeface="한컴 울주 천전리 각석체"/>
                        </a:rPr>
                        <a:t>작성법</a:t>
                      </a:r>
                      <a:r>
                        <a:rPr dirty="0" sz="1200" spc="10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25">
                          <a:latin typeface="한컴 울주 천전리 각석체"/>
                          <a:cs typeface="한컴 울주 천전리 각석체"/>
                        </a:rPr>
                        <a:t>학습</a:t>
                      </a:r>
                      <a:endParaRPr sz="1200">
                        <a:latin typeface="한컴 울주 천전리 각석체"/>
                        <a:cs typeface="한컴 울주 천전리 각석체"/>
                      </a:endParaRPr>
                    </a:p>
                  </a:txBody>
                  <a:tcPr marL="0" marR="0" marB="0" marT="17208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7213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400" spc="-60">
                          <a:latin typeface="한컴 울주 천전리 각석체"/>
                          <a:cs typeface="한컴 울주 천전리 각석체"/>
                        </a:rPr>
                        <a:t>4주차</a:t>
                      </a:r>
                      <a:r>
                        <a:rPr dirty="0" sz="1400" spc="-25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400" spc="-20">
                          <a:latin typeface="한컴 울주 천전리 각석체"/>
                          <a:cs typeface="한컴 울주 천전리 각석체"/>
                        </a:rPr>
                        <a:t>(2시간)</a:t>
                      </a:r>
                      <a:endParaRPr sz="1400">
                        <a:latin typeface="한컴 울주 천전리 각석체"/>
                        <a:cs typeface="한컴 울주 천전리 각석체"/>
                      </a:endParaRPr>
                    </a:p>
                  </a:txBody>
                  <a:tcPr marL="0" marR="0" marB="0" marT="15621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1200" spc="-35">
                          <a:latin typeface="한컴 울주 천전리 각석체"/>
                          <a:cs typeface="한컴 울주 천전리 각석체"/>
                        </a:rPr>
                        <a:t>Gemini를</a:t>
                      </a:r>
                      <a:r>
                        <a:rPr dirty="0" sz="1200" spc="10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80">
                          <a:latin typeface="한컴 울주 천전리 각석체"/>
                          <a:cs typeface="한컴 울주 천전리 각석체"/>
                        </a:rPr>
                        <a:t>이용한</a:t>
                      </a:r>
                      <a:r>
                        <a:rPr dirty="0" sz="1200" spc="15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75">
                          <a:latin typeface="한컴 울주 천전리 각석체"/>
                          <a:cs typeface="한컴 울주 천전리 각석체"/>
                        </a:rPr>
                        <a:t>게임</a:t>
                      </a:r>
                      <a:r>
                        <a:rPr dirty="0" sz="1200" spc="15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80">
                          <a:latin typeface="한컴 울주 천전리 각석체"/>
                          <a:cs typeface="한컴 울주 천전리 각석체"/>
                        </a:rPr>
                        <a:t>래퍼런스</a:t>
                      </a:r>
                      <a:r>
                        <a:rPr dirty="0" sz="1200" spc="15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80">
                          <a:latin typeface="한컴 울주 천전리 각석체"/>
                          <a:cs typeface="한컴 울주 천전리 각석체"/>
                        </a:rPr>
                        <a:t>이미지</a:t>
                      </a:r>
                      <a:r>
                        <a:rPr dirty="0" sz="1200" spc="15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75">
                          <a:latin typeface="한컴 울주 천전리 각석체"/>
                          <a:cs typeface="한컴 울주 천전리 각석체"/>
                        </a:rPr>
                        <a:t>제작</a:t>
                      </a:r>
                      <a:r>
                        <a:rPr dirty="0" sz="1200" spc="15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25">
                          <a:latin typeface="한컴 울주 천전리 각석체"/>
                          <a:cs typeface="한컴 울주 천전리 각석체"/>
                        </a:rPr>
                        <a:t>실습</a:t>
                      </a:r>
                      <a:endParaRPr sz="1200">
                        <a:latin typeface="한컴 울주 천전리 각석체"/>
                        <a:cs typeface="한컴 울주 천전리 각석체"/>
                      </a:endParaRPr>
                    </a:p>
                  </a:txBody>
                  <a:tcPr marL="0" marR="0" marB="0" marT="17208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7213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400" spc="-60">
                          <a:latin typeface="한컴 울주 천전리 각석체"/>
                          <a:cs typeface="한컴 울주 천전리 각석체"/>
                        </a:rPr>
                        <a:t>5주차</a:t>
                      </a:r>
                      <a:r>
                        <a:rPr dirty="0" sz="1400" spc="-25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400" spc="-20">
                          <a:latin typeface="한컴 울주 천전리 각석체"/>
                          <a:cs typeface="한컴 울주 천전리 각석체"/>
                        </a:rPr>
                        <a:t>(2시간)</a:t>
                      </a:r>
                      <a:endParaRPr sz="1400">
                        <a:latin typeface="한컴 울주 천전리 각석체"/>
                        <a:cs typeface="한컴 울주 천전리 각석체"/>
                      </a:endParaRPr>
                    </a:p>
                  </a:txBody>
                  <a:tcPr marL="0" marR="0" marB="0" marT="15621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solidFill>
                      <a:srgbClr val="EFEFE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1200" spc="-45">
                          <a:latin typeface="한컴 울주 천전리 각석체"/>
                          <a:cs typeface="한컴 울주 천전리 각석체"/>
                        </a:rPr>
                        <a:t>Chat</a:t>
                      </a:r>
                      <a:r>
                        <a:rPr dirty="0" sz="1200" spc="5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55">
                          <a:latin typeface="한컴 울주 천전리 각석체"/>
                          <a:cs typeface="한컴 울주 천전리 각석체"/>
                        </a:rPr>
                        <a:t>GPT를</a:t>
                      </a:r>
                      <a:r>
                        <a:rPr dirty="0" sz="1200" spc="20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80">
                          <a:latin typeface="한컴 울주 천전리 각석체"/>
                          <a:cs typeface="한컴 울주 천전리 각석체"/>
                        </a:rPr>
                        <a:t>이용한</a:t>
                      </a:r>
                      <a:r>
                        <a:rPr dirty="0" sz="1200" spc="15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100">
                          <a:latin typeface="한컴 울주 천전리 각석체"/>
                          <a:cs typeface="한컴 울주 천전리 각석체"/>
                        </a:rPr>
                        <a:t>UI</a:t>
                      </a:r>
                      <a:r>
                        <a:rPr dirty="0" sz="1200" spc="30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80">
                          <a:latin typeface="한컴 울주 천전리 각석체"/>
                          <a:cs typeface="한컴 울주 천전리 각석체"/>
                        </a:rPr>
                        <a:t>이미지</a:t>
                      </a:r>
                      <a:r>
                        <a:rPr dirty="0" sz="1200" spc="20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75">
                          <a:latin typeface="한컴 울주 천전리 각석체"/>
                          <a:cs typeface="한컴 울주 천전리 각석체"/>
                        </a:rPr>
                        <a:t>제작</a:t>
                      </a:r>
                      <a:r>
                        <a:rPr dirty="0" sz="1200" spc="20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25">
                          <a:latin typeface="한컴 울주 천전리 각석체"/>
                          <a:cs typeface="한컴 울주 천전리 각석체"/>
                        </a:rPr>
                        <a:t>실습</a:t>
                      </a:r>
                      <a:endParaRPr sz="1200">
                        <a:latin typeface="한컴 울주 천전리 각석체"/>
                        <a:cs typeface="한컴 울주 천전리 각석체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65">
                          <a:latin typeface="한컴 울주 천전리 각석체"/>
                          <a:cs typeface="한컴 울주 천전리 각석체"/>
                        </a:rPr>
                        <a:t>Mesh</a:t>
                      </a:r>
                      <a:r>
                        <a:rPr dirty="0" sz="1200" spc="-5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60">
                          <a:latin typeface="한컴 울주 천전리 각석체"/>
                          <a:cs typeface="한컴 울주 천전리 각석체"/>
                        </a:rPr>
                        <a:t>AI</a:t>
                      </a:r>
                      <a:r>
                        <a:rPr dirty="0" sz="1200" spc="-10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>
                          <a:latin typeface="한컴 울주 천전리 각석체"/>
                          <a:cs typeface="한컴 울주 천전리 각석체"/>
                        </a:rPr>
                        <a:t>및</a:t>
                      </a:r>
                      <a:r>
                        <a:rPr dirty="0" sz="1200" spc="-40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25">
                          <a:latin typeface="한컴 울주 천전리 각석체"/>
                          <a:cs typeface="한컴 울주 천전리 각석체"/>
                        </a:rPr>
                        <a:t>Suno</a:t>
                      </a:r>
                      <a:r>
                        <a:rPr dirty="0" sz="1200" spc="-5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25">
                          <a:latin typeface="한컴 울주 천전리 각석체"/>
                          <a:cs typeface="한컴 울주 천전리 각석체"/>
                        </a:rPr>
                        <a:t>ai를</a:t>
                      </a:r>
                      <a:r>
                        <a:rPr dirty="0" sz="1200" spc="-5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80">
                          <a:latin typeface="한컴 울주 천전리 각석체"/>
                          <a:cs typeface="한컴 울주 천전리 각석체"/>
                        </a:rPr>
                        <a:t>이용하여</a:t>
                      </a:r>
                      <a:r>
                        <a:rPr dirty="0" sz="1200" spc="10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>
                          <a:latin typeface="한컴 울주 천전리 각석체"/>
                          <a:cs typeface="한컴 울주 천전리 각석체"/>
                        </a:rPr>
                        <a:t>3D</a:t>
                      </a:r>
                      <a:r>
                        <a:rPr dirty="0" sz="1200" spc="-5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70">
                          <a:latin typeface="한컴 울주 천전리 각석체"/>
                          <a:cs typeface="한컴 울주 천전리 각석체"/>
                        </a:rPr>
                        <a:t>Object,</a:t>
                      </a:r>
                      <a:r>
                        <a:rPr dirty="0" sz="1200" spc="5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40">
                          <a:latin typeface="한컴 울주 천전리 각석체"/>
                          <a:cs typeface="한컴 울주 천전리 각석체"/>
                        </a:rPr>
                        <a:t>Sound</a:t>
                      </a:r>
                      <a:r>
                        <a:rPr dirty="0" sz="1200" spc="-10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40">
                          <a:latin typeface="한컴 울주 천전리 각석체"/>
                          <a:cs typeface="한컴 울주 천전리 각석체"/>
                        </a:rPr>
                        <a:t>Reference</a:t>
                      </a:r>
                      <a:r>
                        <a:rPr dirty="0" sz="1200" spc="-5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75">
                          <a:latin typeface="한컴 울주 천전리 각석체"/>
                          <a:cs typeface="한컴 울주 천전리 각석체"/>
                        </a:rPr>
                        <a:t>제작</a:t>
                      </a:r>
                      <a:r>
                        <a:rPr dirty="0" sz="1200" spc="10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25">
                          <a:latin typeface="한컴 울주 천전리 각석체"/>
                          <a:cs typeface="한컴 울주 천전리 각석체"/>
                        </a:rPr>
                        <a:t>실습</a:t>
                      </a:r>
                      <a:endParaRPr sz="1200">
                        <a:latin typeface="한컴 울주 천전리 각석체"/>
                        <a:cs typeface="한컴 울주 천전리 각석체"/>
                      </a:endParaRPr>
                    </a:p>
                  </a:txBody>
                  <a:tcPr marL="0" marR="0" marB="0" marT="17208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7277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400" spc="-60">
                          <a:latin typeface="한컴 울주 천전리 각석체"/>
                          <a:cs typeface="한컴 울주 천전리 각석체"/>
                        </a:rPr>
                        <a:t>6주차</a:t>
                      </a:r>
                      <a:r>
                        <a:rPr dirty="0" sz="1400" spc="-25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400" spc="-20">
                          <a:latin typeface="한컴 울주 천전리 각석체"/>
                          <a:cs typeface="한컴 울주 천전리 각석체"/>
                        </a:rPr>
                        <a:t>(2시간)</a:t>
                      </a:r>
                      <a:endParaRPr sz="1400">
                        <a:latin typeface="한컴 울주 천전리 각석체"/>
                        <a:cs typeface="한컴 울주 천전리 각석체"/>
                      </a:endParaRPr>
                    </a:p>
                  </a:txBody>
                  <a:tcPr marL="0" marR="0" marB="0" marT="15621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7208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7213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400" spc="-30">
                          <a:latin typeface="한컴 울주 천전리 각석체"/>
                          <a:cs typeface="한컴 울주 천전리 각석체"/>
                        </a:rPr>
                        <a:t>7,8,9주차</a:t>
                      </a:r>
                      <a:r>
                        <a:rPr dirty="0" sz="1400" spc="-35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400" spc="-20">
                          <a:latin typeface="한컴 울주 천전리 각석체"/>
                          <a:cs typeface="한컴 울주 천전리 각석체"/>
                        </a:rPr>
                        <a:t>(6시간)</a:t>
                      </a:r>
                      <a:endParaRPr sz="1400">
                        <a:latin typeface="한컴 울주 천전리 각석체"/>
                        <a:cs typeface="한컴 울주 천전리 각석체"/>
                      </a:endParaRPr>
                    </a:p>
                  </a:txBody>
                  <a:tcPr marL="0" marR="0" marB="0" marT="15621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1200" spc="-75">
                          <a:latin typeface="한컴 울주 천전리 각석체"/>
                          <a:cs typeface="한컴 울주 천전리 각석체"/>
                        </a:rPr>
                        <a:t>게임</a:t>
                      </a:r>
                      <a:r>
                        <a:rPr dirty="0" sz="1200" spc="15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80">
                          <a:latin typeface="한컴 울주 천전리 각석체"/>
                          <a:cs typeface="한컴 울주 천전리 각석체"/>
                        </a:rPr>
                        <a:t>기획서</a:t>
                      </a:r>
                      <a:r>
                        <a:rPr dirty="0" sz="1200" spc="20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75">
                          <a:latin typeface="한컴 울주 천전리 각석체"/>
                          <a:cs typeface="한컴 울주 천전리 각석체"/>
                        </a:rPr>
                        <a:t>작성</a:t>
                      </a:r>
                      <a:r>
                        <a:rPr dirty="0" sz="1200" spc="15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25">
                          <a:latin typeface="한컴 울주 천전리 각석체"/>
                          <a:cs typeface="한컴 울주 천전리 각석체"/>
                        </a:rPr>
                        <a:t>실습</a:t>
                      </a:r>
                      <a:endParaRPr sz="1200">
                        <a:latin typeface="한컴 울주 천전리 각석체"/>
                        <a:cs typeface="한컴 울주 천전리 각석체"/>
                      </a:endParaRPr>
                    </a:p>
                  </a:txBody>
                  <a:tcPr marL="0" marR="0" marB="0" marT="17208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7213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400" spc="-50">
                          <a:latin typeface="한컴 울주 천전리 각석체"/>
                          <a:cs typeface="한컴 울주 천전리 각석체"/>
                        </a:rPr>
                        <a:t>10주차</a:t>
                      </a:r>
                      <a:r>
                        <a:rPr dirty="0" sz="1400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400" spc="-10">
                          <a:latin typeface="한컴 울주 천전리 각석체"/>
                          <a:cs typeface="한컴 울주 천전리 각석체"/>
                        </a:rPr>
                        <a:t>(2시간)</a:t>
                      </a:r>
                      <a:endParaRPr sz="1400">
                        <a:latin typeface="한컴 울주 천전리 각석체"/>
                        <a:cs typeface="한컴 울주 천전리 각석체"/>
                      </a:endParaRPr>
                    </a:p>
                  </a:txBody>
                  <a:tcPr marL="0" marR="0" marB="0" marT="15621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1200">
                          <a:latin typeface="한컴 울주 천전리 각석체"/>
                          <a:cs typeface="한컴 울주 천전리 각석체"/>
                        </a:rPr>
                        <a:t>3D </a:t>
                      </a:r>
                      <a:r>
                        <a:rPr dirty="0" sz="1200" spc="-20">
                          <a:latin typeface="한컴 울주 천전리 각석체"/>
                          <a:cs typeface="한컴 울주 천전리 각석체"/>
                        </a:rPr>
                        <a:t>Game</a:t>
                      </a:r>
                      <a:r>
                        <a:rPr dirty="0" sz="1200" spc="10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80">
                          <a:latin typeface="한컴 울주 천전리 각석체"/>
                          <a:cs typeface="한컴 울주 천전리 각석체"/>
                        </a:rPr>
                        <a:t>제작에</a:t>
                      </a:r>
                      <a:r>
                        <a:rPr dirty="0" sz="1200" spc="10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80">
                          <a:latin typeface="한컴 울주 천전리 각석체"/>
                          <a:cs typeface="한컴 울주 천전리 각석체"/>
                        </a:rPr>
                        <a:t>필요한</a:t>
                      </a:r>
                      <a:r>
                        <a:rPr dirty="0" sz="1200" spc="10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75">
                          <a:latin typeface="한컴 울주 천전리 각석체"/>
                          <a:cs typeface="한컴 울주 천전리 각석체"/>
                        </a:rPr>
                        <a:t>기본</a:t>
                      </a:r>
                      <a:r>
                        <a:rPr dirty="0" sz="1200" spc="10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75">
                          <a:latin typeface="한컴 울주 천전리 각석체"/>
                          <a:cs typeface="한컴 울주 천전리 각석체"/>
                        </a:rPr>
                        <a:t>코드</a:t>
                      </a:r>
                      <a:r>
                        <a:rPr dirty="0" sz="1200" spc="10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200" spc="-50">
                          <a:latin typeface="한컴 울주 천전리 각석체"/>
                          <a:cs typeface="한컴 울주 천전리 각석체"/>
                        </a:rPr>
                        <a:t>성</a:t>
                      </a:r>
                      <a:endParaRPr sz="1200">
                        <a:latin typeface="한컴 울주 천전리 각석체"/>
                        <a:cs typeface="한컴 울주 천전리 각석체"/>
                      </a:endParaRPr>
                    </a:p>
                  </a:txBody>
                  <a:tcPr marL="0" marR="0" marB="0" marT="17208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7213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400">
                          <a:latin typeface="한컴 울주 천전리 각석체"/>
                          <a:cs typeface="한컴 울주 천전리 각석체"/>
                        </a:rPr>
                        <a:t>총</a:t>
                      </a:r>
                      <a:r>
                        <a:rPr dirty="0" sz="1400" spc="-75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400" spc="-30">
                          <a:latin typeface="한컴 울주 천전리 각석체"/>
                          <a:cs typeface="한컴 울주 천전리 각석체"/>
                        </a:rPr>
                        <a:t>10주차</a:t>
                      </a:r>
                      <a:r>
                        <a:rPr dirty="0" sz="1400" spc="-50">
                          <a:latin typeface="한컴 울주 천전리 각석체"/>
                          <a:cs typeface="한컴 울주 천전리 각석체"/>
                        </a:rPr>
                        <a:t> </a:t>
                      </a:r>
                      <a:r>
                        <a:rPr dirty="0" sz="1400" spc="-10">
                          <a:latin typeface="한컴 울주 천전리 각석체"/>
                          <a:cs typeface="한컴 울주 천전리 각석체"/>
                        </a:rPr>
                        <a:t>(20시간)</a:t>
                      </a:r>
                      <a:endParaRPr sz="1400">
                        <a:latin typeface="한컴 울주 천전리 각석체"/>
                        <a:cs typeface="한컴 울주 천전리 각석체"/>
                      </a:endParaRPr>
                    </a:p>
                  </a:txBody>
                  <a:tcPr marL="0" marR="0" marB="0" marT="156210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1200" spc="-50">
                          <a:latin typeface="한컴 울주 천전리 각석체"/>
                          <a:cs typeface="한컴 울주 천전리 각석체"/>
                        </a:rPr>
                        <a:t>-</a:t>
                      </a:r>
                      <a:endParaRPr sz="1200">
                        <a:latin typeface="한컴 울주 천전리 각석체"/>
                        <a:cs typeface="한컴 울주 천전리 각석체"/>
                      </a:endParaRPr>
                    </a:p>
                  </a:txBody>
                  <a:tcPr marL="0" marR="0" marB="0" marT="17208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Forld</dc:creator>
  <cp:keywords>DAG94c4cJlg,BAGc-BGPqxw,0</cp:keywords>
  <dc:title>Executive summary</dc:title>
  <dcterms:created xsi:type="dcterms:W3CDTF">2026-04-18T04:27:56Z</dcterms:created>
  <dcterms:modified xsi:type="dcterms:W3CDTF">2026-04-18T04:27:56Z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2026-01-09T00:00:00Z</vt:filetime>
  </property>
  <property fmtid="{D5CDD505-2E9C-101B-9397-08002B2CF9AE}" pid="3" name="Creator">
    <vt:lpwstr>Canva</vt:lpwstr>
  </property>
  <property fmtid="{D5CDD505-2E9C-101B-9397-08002B2CF9AE}" pid="4" name="LastSaved">
    <vt:filetime>2026-04-18T00:00:00Z</vt:filetime>
  </property>
  <property fmtid="{D5CDD505-2E9C-101B-9397-08002B2CF9AE}" pid="5" name="Producer">
    <vt:lpwstr>Canva</vt:lpwstr>
  </property>
</Properties>
</file>